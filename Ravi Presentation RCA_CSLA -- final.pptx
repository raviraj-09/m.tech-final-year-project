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35"/>
  </p:notesMasterIdLst>
  <p:sldIdLst>
    <p:sldId id="256" r:id="rId2"/>
    <p:sldId id="257" r:id="rId3"/>
    <p:sldId id="290" r:id="rId4"/>
    <p:sldId id="260" r:id="rId5"/>
    <p:sldId id="259" r:id="rId6"/>
    <p:sldId id="261" r:id="rId7"/>
    <p:sldId id="279" r:id="rId8"/>
    <p:sldId id="275" r:id="rId9"/>
    <p:sldId id="267" r:id="rId10"/>
    <p:sldId id="282" r:id="rId11"/>
    <p:sldId id="268" r:id="rId12"/>
    <p:sldId id="283" r:id="rId13"/>
    <p:sldId id="262" r:id="rId14"/>
    <p:sldId id="266" r:id="rId15"/>
    <p:sldId id="276" r:id="rId16"/>
    <p:sldId id="286" r:id="rId17"/>
    <p:sldId id="287" r:id="rId18"/>
    <p:sldId id="295" r:id="rId19"/>
    <p:sldId id="294" r:id="rId20"/>
    <p:sldId id="301" r:id="rId21"/>
    <p:sldId id="288" r:id="rId22"/>
    <p:sldId id="299" r:id="rId23"/>
    <p:sldId id="300" r:id="rId24"/>
    <p:sldId id="269" r:id="rId25"/>
    <p:sldId id="291" r:id="rId26"/>
    <p:sldId id="293" r:id="rId27"/>
    <p:sldId id="298" r:id="rId28"/>
    <p:sldId id="292" r:id="rId29"/>
    <p:sldId id="278" r:id="rId30"/>
    <p:sldId id="296" r:id="rId31"/>
    <p:sldId id="297" r:id="rId32"/>
    <p:sldId id="273" r:id="rId33"/>
    <p:sldId id="27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7CBB6-5EFA-4E82-85AC-68E3AEAEB5C1}" v="19" dt="2026-08-27T19:09:23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4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Raj" userId="4ce4132774d0058d" providerId="LiveId" clId="{78E90855-7D8C-427A-9C46-839BC3D269EA}"/>
    <pc:docChg chg="undo redo custSel addSld delSld modSld sldOrd modMainMaster">
      <pc:chgData name="Ravi Raj" userId="4ce4132774d0058d" providerId="LiveId" clId="{78E90855-7D8C-427A-9C46-839BC3D269EA}" dt="2026-08-27T19:09:23.496" v="14818"/>
      <pc:docMkLst>
        <pc:docMk/>
      </pc:docMkLst>
      <pc:sldChg chg="addSp modSp mod">
        <pc:chgData name="Ravi Raj" userId="4ce4132774d0058d" providerId="LiveId" clId="{78E90855-7D8C-427A-9C46-839BC3D269EA}" dt="2026-08-23T08:53:03.284" v="14816" actId="20577"/>
        <pc:sldMkLst>
          <pc:docMk/>
          <pc:sldMk cId="3518357122" sldId="256"/>
        </pc:sldMkLst>
        <pc:spChg chg="add mod">
          <ac:chgData name="Ravi Raj" userId="4ce4132774d0058d" providerId="LiveId" clId="{78E90855-7D8C-427A-9C46-839BC3D269EA}" dt="2026-08-19T10:40:42.151" v="14796" actId="1036"/>
          <ac:spMkLst>
            <pc:docMk/>
            <pc:sldMk cId="3518357122" sldId="256"/>
            <ac:spMk id="2" creationId="{E5E0C8C2-68F5-80B0-92BF-A364D78FDD4A}"/>
          </ac:spMkLst>
        </pc:spChg>
        <pc:spChg chg="add mod">
          <ac:chgData name="Ravi Raj" userId="4ce4132774d0058d" providerId="LiveId" clId="{78E90855-7D8C-427A-9C46-839BC3D269EA}" dt="2026-08-19T10:41:20.843" v="14809" actId="114"/>
          <ac:spMkLst>
            <pc:docMk/>
            <pc:sldMk cId="3518357122" sldId="256"/>
            <ac:spMk id="3" creationId="{CB263718-D8BF-D01B-8C81-B43E4C01729B}"/>
          </ac:spMkLst>
        </pc:spChg>
        <pc:spChg chg="mod">
          <ac:chgData name="Ravi Raj" userId="4ce4132774d0058d" providerId="LiveId" clId="{78E90855-7D8C-427A-9C46-839BC3D269EA}" dt="2026-08-19T10:40:48.165" v="14798" actId="1076"/>
          <ac:spMkLst>
            <pc:docMk/>
            <pc:sldMk cId="3518357122" sldId="256"/>
            <ac:spMk id="4" creationId="{F42111F9-D5CE-C7EC-4977-A910FCCC6C77}"/>
          </ac:spMkLst>
        </pc:spChg>
        <pc:spChg chg="mod">
          <ac:chgData name="Ravi Raj" userId="4ce4132774d0058d" providerId="LiveId" clId="{78E90855-7D8C-427A-9C46-839BC3D269EA}" dt="2026-08-19T10:41:27.300" v="14812" actId="114"/>
          <ac:spMkLst>
            <pc:docMk/>
            <pc:sldMk cId="3518357122" sldId="256"/>
            <ac:spMk id="67" creationId="{3369A307-568A-AE38-0DE5-8DF2C62C8C8B}"/>
          </ac:spMkLst>
        </pc:spChg>
        <pc:spChg chg="mod">
          <ac:chgData name="Ravi Raj" userId="4ce4132774d0058d" providerId="LiveId" clId="{78E90855-7D8C-427A-9C46-839BC3D269EA}" dt="2026-08-19T10:41:08.017" v="14806" actId="1036"/>
          <ac:spMkLst>
            <pc:docMk/>
            <pc:sldMk cId="3518357122" sldId="256"/>
            <ac:spMk id="70" creationId="{9FE159E4-AC13-E2EC-7997-5362C6D3AAA4}"/>
          </ac:spMkLst>
        </pc:spChg>
        <pc:spChg chg="mod">
          <ac:chgData name="Ravi Raj" userId="4ce4132774d0058d" providerId="LiveId" clId="{78E90855-7D8C-427A-9C46-839BC3D269EA}" dt="2026-08-19T10:41:16.828" v="14808" actId="114"/>
          <ac:spMkLst>
            <pc:docMk/>
            <pc:sldMk cId="3518357122" sldId="256"/>
            <ac:spMk id="73" creationId="{122681EE-0D74-E1CE-58B4-DEEB825268C6}"/>
          </ac:spMkLst>
        </pc:spChg>
        <pc:spChg chg="mod">
          <ac:chgData name="Ravi Raj" userId="4ce4132774d0058d" providerId="LiveId" clId="{78E90855-7D8C-427A-9C46-839BC3D269EA}" dt="2026-08-19T10:40:50.349" v="14800" actId="1076"/>
          <ac:spMkLst>
            <pc:docMk/>
            <pc:sldMk cId="3518357122" sldId="256"/>
            <ac:spMk id="76" creationId="{4E2F7635-76A1-4FE2-D22C-CCC3EF3A3CAF}"/>
          </ac:spMkLst>
        </pc:spChg>
        <pc:spChg chg="mod">
          <ac:chgData name="Ravi Raj" userId="4ce4132774d0058d" providerId="LiveId" clId="{78E90855-7D8C-427A-9C46-839BC3D269EA}" dt="2026-08-23T08:53:03.284" v="14816" actId="20577"/>
          <ac:spMkLst>
            <pc:docMk/>
            <pc:sldMk cId="3518357122" sldId="256"/>
            <ac:spMk id="84" creationId="{32FDFA9D-CF25-BBA1-D205-FB5DCF82A66B}"/>
          </ac:spMkLst>
        </pc:spChg>
        <pc:picChg chg="mod">
          <ac:chgData name="Ravi Raj" userId="4ce4132774d0058d" providerId="LiveId" clId="{78E90855-7D8C-427A-9C46-839BC3D269EA}" dt="2026-08-19T10:40:24.497" v="14762" actId="1076"/>
          <ac:picMkLst>
            <pc:docMk/>
            <pc:sldMk cId="3518357122" sldId="256"/>
            <ac:picMk id="91" creationId="{FE06145D-013C-ACB6-F85F-1B09C0916F0E}"/>
          </ac:picMkLst>
        </pc:picChg>
      </pc:sldChg>
      <pc:sldChg chg="modSp mod">
        <pc:chgData name="Ravi Raj" userId="4ce4132774d0058d" providerId="LiveId" clId="{78E90855-7D8C-427A-9C46-839BC3D269EA}" dt="2026-08-13T06:35:46.665" v="14624" actId="20577"/>
        <pc:sldMkLst>
          <pc:docMk/>
          <pc:sldMk cId="1588854424" sldId="259"/>
        </pc:sldMkLst>
        <pc:graphicFrameChg chg="mod modGraphic">
          <ac:chgData name="Ravi Raj" userId="4ce4132774d0058d" providerId="LiveId" clId="{78E90855-7D8C-427A-9C46-839BC3D269EA}" dt="2026-08-13T06:35:46.665" v="14624" actId="20577"/>
          <ac:graphicFrameMkLst>
            <pc:docMk/>
            <pc:sldMk cId="1588854424" sldId="259"/>
            <ac:graphicFrameMk id="7" creationId="{55146A0A-FE38-9672-7960-966FF76DB18C}"/>
          </ac:graphicFrameMkLst>
        </pc:graphicFrameChg>
      </pc:sldChg>
      <pc:sldChg chg="modSp mod">
        <pc:chgData name="Ravi Raj" userId="4ce4132774d0058d" providerId="LiveId" clId="{78E90855-7D8C-427A-9C46-839BC3D269EA}" dt="2026-08-13T06:36:01.456" v="14634" actId="20577"/>
        <pc:sldMkLst>
          <pc:docMk/>
          <pc:sldMk cId="1391877846" sldId="273"/>
        </pc:sldMkLst>
        <pc:spChg chg="mod">
          <ac:chgData name="Ravi Raj" userId="4ce4132774d0058d" providerId="LiveId" clId="{78E90855-7D8C-427A-9C46-839BC3D269EA}" dt="2026-08-13T06:36:01.456" v="14634" actId="20577"/>
          <ac:spMkLst>
            <pc:docMk/>
            <pc:sldMk cId="1391877846" sldId="273"/>
            <ac:spMk id="3" creationId="{AB71C1C5-E47B-D630-1A21-9587CE778116}"/>
          </ac:spMkLst>
        </pc:spChg>
      </pc:sldChg>
      <pc:sldChg chg="addSp delSp modSp add mod setBg modClrScheme chgLayout">
        <pc:chgData name="Ravi Raj" userId="4ce4132774d0058d" providerId="LiveId" clId="{78E90855-7D8C-427A-9C46-839BC3D269EA}" dt="2026-08-13T06:32:36.752" v="14543" actId="313"/>
        <pc:sldMkLst>
          <pc:docMk/>
          <pc:sldMk cId="3609053536" sldId="283"/>
        </pc:sldMkLst>
        <pc:spChg chg="add mod">
          <ac:chgData name="Ravi Raj" userId="4ce4132774d0058d" providerId="LiveId" clId="{78E90855-7D8C-427A-9C46-839BC3D269EA}" dt="2026-08-13T06:32:36.752" v="14543" actId="313"/>
          <ac:spMkLst>
            <pc:docMk/>
            <pc:sldMk cId="3609053536" sldId="283"/>
            <ac:spMk id="9" creationId="{751E3FB9-8379-D4C6-6E06-9BC0ED478206}"/>
          </ac:spMkLst>
        </pc:spChg>
        <pc:picChg chg="add mod">
          <ac:chgData name="Ravi Raj" userId="4ce4132774d0058d" providerId="LiveId" clId="{78E90855-7D8C-427A-9C46-839BC3D269EA}" dt="2026-08-13T06:31:24.963" v="14499" actId="1076"/>
          <ac:picMkLst>
            <pc:docMk/>
            <pc:sldMk cId="3609053536" sldId="283"/>
            <ac:picMk id="3" creationId="{D34EACFC-B2AA-3DAB-F115-DA75E41EA9C5}"/>
          </ac:picMkLst>
        </pc:picChg>
        <pc:picChg chg="add mod">
          <ac:chgData name="Ravi Raj" userId="4ce4132774d0058d" providerId="LiveId" clId="{78E90855-7D8C-427A-9C46-839BC3D269EA}" dt="2026-08-13T06:31:26.855" v="14500" actId="1076"/>
          <ac:picMkLst>
            <pc:docMk/>
            <pc:sldMk cId="3609053536" sldId="283"/>
            <ac:picMk id="4" creationId="{C6C62190-B49C-8F9C-4EBF-747DCD27AFF1}"/>
          </ac:picMkLst>
        </pc:picChg>
        <pc:picChg chg="mod">
          <ac:chgData name="Ravi Raj" userId="4ce4132774d0058d" providerId="LiveId" clId="{78E90855-7D8C-427A-9C46-839BC3D269EA}" dt="2026-08-13T06:31:33.808" v="14503" actId="1076"/>
          <ac:picMkLst>
            <pc:docMk/>
            <pc:sldMk cId="3609053536" sldId="283"/>
            <ac:picMk id="254" creationId="{EED23282-C844-35D2-7DEC-7DFD24944AE8}"/>
          </ac:picMkLst>
        </pc:picChg>
      </pc:sldChg>
      <pc:sldChg chg="modSp mod">
        <pc:chgData name="Ravi Raj" userId="4ce4132774d0058d" providerId="LiveId" clId="{78E90855-7D8C-427A-9C46-839BC3D269EA}" dt="2026-08-23T08:54:38.593" v="14817" actId="313"/>
        <pc:sldMkLst>
          <pc:docMk/>
          <pc:sldMk cId="3758661183" sldId="296"/>
        </pc:sldMkLst>
        <pc:spChg chg="mod">
          <ac:chgData name="Ravi Raj" userId="4ce4132774d0058d" providerId="LiveId" clId="{78E90855-7D8C-427A-9C46-839BC3D269EA}" dt="2026-08-23T08:54:38.593" v="14817" actId="313"/>
          <ac:spMkLst>
            <pc:docMk/>
            <pc:sldMk cId="3758661183" sldId="296"/>
            <ac:spMk id="3" creationId="{7956CD9E-14A0-6AAA-2CCD-7C5D0E08FF2D}"/>
          </ac:spMkLst>
        </pc:spChg>
      </pc:sldChg>
      <pc:sldChg chg="add">
        <pc:chgData name="Ravi Raj" userId="4ce4132774d0058d" providerId="LiveId" clId="{78E90855-7D8C-427A-9C46-839BC3D269EA}" dt="2026-08-27T19:09:23.496" v="14818"/>
        <pc:sldMkLst>
          <pc:docMk/>
          <pc:sldMk cId="0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BD5BA-4AAF-41E7-876A-C5E16318911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C044A-E05D-432E-A0AD-3E5AF79A2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75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66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04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12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84b23c53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f84b23c5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7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D408-F221-D810-2CA5-8C7DC9A6F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91105-43AF-8DCC-06D0-AB3B4111B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EA51B-25EE-2985-C2F1-684133D6E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B0B09-DB07-F7DF-8815-5F2827EA5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12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82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66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C044A-E05D-432E-A0AD-3E5AF79A2D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3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8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4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2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7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9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7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66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5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5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79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2501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78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47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65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49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69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3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E3518-9A59-407F-88B4-E9771B26FDA1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9889D-B3D0-4520-887C-540B89071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0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2111F9-D5CE-C7EC-4977-A910FCCC6C77}"/>
              </a:ext>
            </a:extLst>
          </p:cNvPr>
          <p:cNvSpPr txBox="1"/>
          <p:nvPr/>
        </p:nvSpPr>
        <p:spPr>
          <a:xfrm>
            <a:off x="1490472" y="539969"/>
            <a:ext cx="100584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PERFORMANCE ANALYSIS OF MTCMOS-BASED RCA AND VARIABLE BLOCK CSLA ARCHITECTURES IN 90 NM CMOS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69A307-568A-AE38-0DE5-8DF2C62C8C8B}"/>
              </a:ext>
            </a:extLst>
          </p:cNvPr>
          <p:cNvSpPr txBox="1"/>
          <p:nvPr/>
        </p:nvSpPr>
        <p:spPr>
          <a:xfrm>
            <a:off x="5562278" y="1363617"/>
            <a:ext cx="1449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E159E4-AC13-E2EC-7997-5362C6D3AAA4}"/>
              </a:ext>
            </a:extLst>
          </p:cNvPr>
          <p:cNvSpPr txBox="1"/>
          <p:nvPr/>
        </p:nvSpPr>
        <p:spPr>
          <a:xfrm>
            <a:off x="5300472" y="1589008"/>
            <a:ext cx="159105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RAVI RAJ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24171110006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2681EE-0D74-E1CE-58B4-DEEB825268C6}"/>
              </a:ext>
            </a:extLst>
          </p:cNvPr>
          <p:cNvSpPr txBox="1"/>
          <p:nvPr/>
        </p:nvSpPr>
        <p:spPr>
          <a:xfrm>
            <a:off x="5439156" y="2434402"/>
            <a:ext cx="12893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2F7635-76A1-4FE2-D22C-CCC3EF3A3CAF}"/>
              </a:ext>
            </a:extLst>
          </p:cNvPr>
          <p:cNvSpPr txBox="1"/>
          <p:nvPr/>
        </p:nvSpPr>
        <p:spPr>
          <a:xfrm>
            <a:off x="3695700" y="2670677"/>
            <a:ext cx="4800600" cy="800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Mrinal Ranjan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and Electronics Engineering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FDFA9D-CF25-BBA1-D205-FB5DCF82A66B}"/>
              </a:ext>
            </a:extLst>
          </p:cNvPr>
          <p:cNvSpPr txBox="1"/>
          <p:nvPr/>
        </p:nvSpPr>
        <p:spPr>
          <a:xfrm>
            <a:off x="1661160" y="5863099"/>
            <a:ext cx="8869680" cy="960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 COLLEGE OF ENGINEERING, GAYA - 823003, BIHAR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FE06145D-013C-ACB6-F85F-1B09C0916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472" y="4457184"/>
            <a:ext cx="1711130" cy="16021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E0C8C2-68F5-80B0-92BF-A364D78FDD4A}"/>
              </a:ext>
            </a:extLst>
          </p:cNvPr>
          <p:cNvSpPr txBox="1"/>
          <p:nvPr/>
        </p:nvSpPr>
        <p:spPr>
          <a:xfrm>
            <a:off x="3683508" y="3574579"/>
            <a:ext cx="4800600" cy="800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Rajan Sarkar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and Head of Department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Electrical and Electronics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63718-D8BF-D01B-8C81-B43E4C01729B}"/>
              </a:ext>
            </a:extLst>
          </p:cNvPr>
          <p:cNvSpPr txBox="1"/>
          <p:nvPr/>
        </p:nvSpPr>
        <p:spPr>
          <a:xfrm>
            <a:off x="5314188" y="3409246"/>
            <a:ext cx="194277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Co-Supervised By:</a:t>
            </a:r>
          </a:p>
        </p:txBody>
      </p:sp>
    </p:spTree>
    <p:extLst>
      <p:ext uri="{BB962C8B-B14F-4D97-AF65-F5344CB8AC3E}">
        <p14:creationId xmlns:p14="http://schemas.microsoft.com/office/powerpoint/2010/main" val="3518357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82653D-0BF8-FB1C-F118-4A29E9A6E8A5}"/>
              </a:ext>
            </a:extLst>
          </p:cNvPr>
          <p:cNvSpPr txBox="1"/>
          <p:nvPr/>
        </p:nvSpPr>
        <p:spPr>
          <a:xfrm>
            <a:off x="1419860" y="1469136"/>
            <a:ext cx="532384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Background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Implementation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71D14A-F854-1927-B93A-ED4D72FB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5912530" cy="60677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  <p:extLst>
      <p:ext uri="{BB962C8B-B14F-4D97-AF65-F5344CB8AC3E}">
        <p14:creationId xmlns:p14="http://schemas.microsoft.com/office/powerpoint/2010/main" val="344796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D0E41-D1CE-C74F-6ACE-7CFFFBAC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F9D8A8-1EAD-9C52-6641-F8900EE2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618518"/>
            <a:ext cx="2980644" cy="677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DA64C4-AE42-A09C-FA0D-DE2D5F2F76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5926" y="1597406"/>
            <a:ext cx="5053238" cy="498885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deep submicron regime, leakage power has surpassed dynamic power as the primary design challenge.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units (ALUs) are the backbone of DSPs and microprocessors.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Adders are core components in every computational block.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of threshold voltage (V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leads to exponential increase in leakage.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Leakage-aware arithmetic circuit design is essential for modern energy-efficient systems.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low-power arithmetic circuit design has become an important research area in modern VLSI systems.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7B8AD-964F-01CD-D096-F55F1146EC68}"/>
              </a:ext>
            </a:extLst>
          </p:cNvPr>
          <p:cNvSpPr txBox="1"/>
          <p:nvPr/>
        </p:nvSpPr>
        <p:spPr>
          <a:xfrm>
            <a:off x="7291502" y="5912128"/>
            <a:ext cx="3843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Low-Power VLSI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E248BC-81B7-6EE2-F5C3-807210CD2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229" y="1710059"/>
            <a:ext cx="5015825" cy="41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8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81AF-34E1-84FF-79AE-5993759B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5222811" cy="63421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80785-4F9C-E1D0-0139-9110ABCD11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1412" y="1640112"/>
            <a:ext cx="9374187" cy="334336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power increases significantly in deep submicron CMOS technologies.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RCA offers simple architecture but suffers from large carry propagation delay.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CSLA improves speed performance but increases area and power overhead.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low-power adder designs do not provide an optimized balance between leakage, delay, and complexity.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MTCMOS-based adder architecture is required for low-power VLSI applications.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nanoscale CMOS technologies, leakage current becomes dominant during standby operation.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0D3AD-115D-0657-D247-68EA291DE473}"/>
              </a:ext>
            </a:extLst>
          </p:cNvPr>
          <p:cNvSpPr txBox="1"/>
          <p:nvPr/>
        </p:nvSpPr>
        <p:spPr>
          <a:xfrm>
            <a:off x="1302522" y="5386346"/>
            <a:ext cx="7886473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leakage power without significant performance degradation.</a:t>
            </a:r>
          </a:p>
        </p:txBody>
      </p:sp>
    </p:spTree>
    <p:extLst>
      <p:ext uri="{BB962C8B-B14F-4D97-AF65-F5344CB8AC3E}">
        <p14:creationId xmlns:p14="http://schemas.microsoft.com/office/powerpoint/2010/main" val="152250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39F7-8711-5730-67CD-BD11799E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47546"/>
            <a:ext cx="4546155" cy="61592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146A0A-FE38-9672-7960-966FF76DB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835543"/>
              </p:ext>
            </p:extLst>
          </p:nvPr>
        </p:nvGraphicFramePr>
        <p:xfrm>
          <a:off x="1141413" y="2024861"/>
          <a:ext cx="10252011" cy="3733775"/>
        </p:xfrm>
        <a:graphic>
          <a:graphicData uri="http://schemas.openxmlformats.org/drawingml/2006/table">
            <a:tbl>
              <a:tblPr/>
              <a:tblGrid>
                <a:gridCol w="2323147">
                  <a:extLst>
                    <a:ext uri="{9D8B030D-6E8A-4147-A177-3AD203B41FA5}">
                      <a16:colId xmlns:a16="http://schemas.microsoft.com/office/drawing/2014/main" val="1295432448"/>
                    </a:ext>
                  </a:extLst>
                </a:gridCol>
                <a:gridCol w="1034288">
                  <a:extLst>
                    <a:ext uri="{9D8B030D-6E8A-4147-A177-3AD203B41FA5}">
                      <a16:colId xmlns:a16="http://schemas.microsoft.com/office/drawing/2014/main" val="115770172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3861966511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1054744826"/>
                    </a:ext>
                  </a:extLst>
                </a:gridCol>
              </a:tblGrid>
              <a:tr h="337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481623"/>
                  </a:ext>
                </a:extLst>
              </a:tr>
              <a:tr h="84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P. Balasubramanian </a:t>
                      </a:r>
                    </a:p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et al. 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CLA and CSLA architectures for speed improvement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Leakage analysis not considered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000260"/>
                  </a:ext>
                </a:extLst>
              </a:tr>
              <a:tr h="59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N.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Hanchate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N.          </a:t>
                      </a:r>
                    </a:p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Ranganathan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standby leakage using sleep transistors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and delay overhead not analyzed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439987"/>
                  </a:ext>
                </a:extLst>
              </a:tr>
              <a:tr h="59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S. Mutoh </a:t>
                      </a:r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propagation delay using non-uniform grouping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switching activity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148203"/>
                  </a:ext>
                </a:extLst>
              </a:tr>
              <a:tr h="59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 B. Ramkumar and </a:t>
                      </a:r>
                    </a:p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H. M. Kittur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Discussed leakage-delay trade-off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transistor-level adder analysis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741986"/>
                  </a:ext>
                </a:extLst>
              </a:tr>
              <a:tr h="59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 K. Roy et al.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power optimization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RCA-CSLA MTCMOS analysis missing</a:t>
                      </a:r>
                    </a:p>
                  </a:txBody>
                  <a:tcPr marL="84326" marR="84326" marT="42163" marB="421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6826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C44E7F-1E40-F0CE-E63F-A9ACEF69F0B6}"/>
              </a:ext>
            </a:extLst>
          </p:cNvPr>
          <p:cNvSpPr txBox="1"/>
          <p:nvPr/>
        </p:nvSpPr>
        <p:spPr>
          <a:xfrm>
            <a:off x="1141413" y="5969699"/>
            <a:ext cx="9135369" cy="6771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work exists on transistor-level RCA and variable block CSLA architectures integrated with MTCMOS and sleep transistor optimization.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77FD1-CFF7-4263-91BA-9992E794CFC1}"/>
              </a:ext>
            </a:extLst>
          </p:cNvPr>
          <p:cNvSpPr txBox="1"/>
          <p:nvPr/>
        </p:nvSpPr>
        <p:spPr>
          <a:xfrm>
            <a:off x="1141413" y="1231488"/>
            <a:ext cx="913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researchers have explored low-power adder architectures and leakage reduction techniques to improve energy efficiency in CMOS systems.</a:t>
            </a:r>
          </a:p>
        </p:txBody>
      </p:sp>
    </p:spTree>
    <p:extLst>
      <p:ext uri="{BB962C8B-B14F-4D97-AF65-F5344CB8AC3E}">
        <p14:creationId xmlns:p14="http://schemas.microsoft.com/office/powerpoint/2010/main" val="1588854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BA80-3D20-B56C-E4CB-C1828AA5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2424747" cy="60677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4D680-DEF0-46ED-F8AC-C9DD71BB25B2}"/>
              </a:ext>
            </a:extLst>
          </p:cNvPr>
          <p:cNvSpPr/>
          <p:nvPr/>
        </p:nvSpPr>
        <p:spPr>
          <a:xfrm>
            <a:off x="967242" y="1383649"/>
            <a:ext cx="3183844" cy="36150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4-bit to 32-bit RCA and CSLA using 28T Full Adder cells and  2:1 multiplexer.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09565A-04A1-6E00-D5AD-8066447EE3C3}"/>
              </a:ext>
            </a:extLst>
          </p:cNvPr>
          <p:cNvSpPr/>
          <p:nvPr/>
        </p:nvSpPr>
        <p:spPr>
          <a:xfrm>
            <a:off x="4504078" y="1411514"/>
            <a:ext cx="3183844" cy="36150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GATING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MTCMOS (Multi-Threshold CMOS) sleep transistors to reduce standby leakage. 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1D18FD-7E00-4968-CA5B-D4F91BB989C9}"/>
              </a:ext>
            </a:extLst>
          </p:cNvPr>
          <p:cNvSpPr/>
          <p:nvPr/>
        </p:nvSpPr>
        <p:spPr>
          <a:xfrm>
            <a:off x="8040914" y="1383649"/>
            <a:ext cx="3183844" cy="36150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power, delay, and leakage performance.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sleep transistor sizing for low-power operation.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79FF093A-77B0-C64B-345D-28E670882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1" y="1631701"/>
            <a:ext cx="745444" cy="667869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A16067E-8547-13CD-BCBD-80EB3F3CD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895" y="1631702"/>
            <a:ext cx="670901" cy="66787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9F3077F1-C52A-E41A-9AC3-332F3FE9F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346" y="1631702"/>
            <a:ext cx="764080" cy="6678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3A7A12-84E2-14AF-1BF8-12167A5C6B7C}"/>
              </a:ext>
            </a:extLst>
          </p:cNvPr>
          <p:cNvSpPr txBox="1"/>
          <p:nvPr/>
        </p:nvSpPr>
        <p:spPr>
          <a:xfrm>
            <a:off x="2231433" y="5474351"/>
            <a:ext cx="772028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an optimized trade-off between leakage power and propagation delay.</a:t>
            </a:r>
          </a:p>
        </p:txBody>
      </p:sp>
    </p:spTree>
    <p:extLst>
      <p:ext uri="{BB962C8B-B14F-4D97-AF65-F5344CB8AC3E}">
        <p14:creationId xmlns:p14="http://schemas.microsoft.com/office/powerpoint/2010/main" val="420747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BE39-A034-D1AC-6E27-271441AE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19BF-BF48-8CBE-CCCC-D3CA6B810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3757158" cy="60677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fundamentals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BA8D09-AF17-F2BD-2ED9-81D31417A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919963"/>
            <a:ext cx="10359309" cy="3348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6B0E70-1F71-7FB6-B839-4225E99F989E}"/>
              </a:ext>
            </a:extLst>
          </p:cNvPr>
          <p:cNvSpPr txBox="1"/>
          <p:nvPr/>
        </p:nvSpPr>
        <p:spPr>
          <a:xfrm>
            <a:off x="1141413" y="1428094"/>
            <a:ext cx="7057708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uses complementary PMOS and NMOS transistors.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low static power consumption.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noise immunity and scalability.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E2F40-2FE7-2BAC-E2C5-8EA7A82F16BC}"/>
              </a:ext>
            </a:extLst>
          </p:cNvPr>
          <p:cNvSpPr txBox="1"/>
          <p:nvPr/>
        </p:nvSpPr>
        <p:spPr>
          <a:xfrm>
            <a:off x="3161507" y="6273664"/>
            <a:ext cx="6714013" cy="37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CMOS Inverter Circuit showing charging and discharging</a:t>
            </a:r>
          </a:p>
        </p:txBody>
      </p:sp>
    </p:spTree>
    <p:extLst>
      <p:ext uri="{BB962C8B-B14F-4D97-AF65-F5344CB8AC3E}">
        <p14:creationId xmlns:p14="http://schemas.microsoft.com/office/powerpoint/2010/main" val="4088855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1D39-3594-1482-F853-51A22FB3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6F87-7825-5C69-8DA9-B34BEA47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545948"/>
            <a:ext cx="4822509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ripple carry adder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72BC2-740E-360D-9B3A-F965BBCB9BE9}"/>
              </a:ext>
            </a:extLst>
          </p:cNvPr>
          <p:cNvSpPr txBox="1"/>
          <p:nvPr/>
        </p:nvSpPr>
        <p:spPr>
          <a:xfrm>
            <a:off x="1221016" y="1299028"/>
            <a:ext cx="100152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RCA serves as the baseline for performance comparison, representing the simplest yet slowest addition architecture.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Cascaded 1-bit Full Adders where the carry ripples from LSB to MSB.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area, simple layout.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propagation delay as bit count increases.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C9238D-43DA-F60A-AFF2-688AE869676B}"/>
                  </a:ext>
                </a:extLst>
              </p:cNvPr>
              <p:cNvSpPr txBox="1"/>
              <p:nvPr/>
            </p:nvSpPr>
            <p:spPr>
              <a:xfrm>
                <a:off x="1141411" y="4129264"/>
                <a:ext cx="2617218" cy="4483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𝐶𝑎𝑟𝑟𝑦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C9238D-43DA-F60A-AFF2-688AE8696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1" y="4129264"/>
                <a:ext cx="2617218" cy="448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FF33605-17AD-C114-1516-10D967FAAD3F}"/>
              </a:ext>
            </a:extLst>
          </p:cNvPr>
          <p:cNvSpPr txBox="1"/>
          <p:nvPr/>
        </p:nvSpPr>
        <p:spPr>
          <a:xfrm>
            <a:off x="5659120" y="6312052"/>
            <a:ext cx="52723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16-bit Ripple  Carry Adder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277AAF-7ADC-E9FE-6A81-ABE1A762D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39" y="3316513"/>
            <a:ext cx="7883222" cy="299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2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4864-8306-347A-4302-35BB41C0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54BC-FBF7-0B3F-EEE0-94140870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6384099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 select adder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5C0F2A-FEB3-5931-6C23-504B8DE72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280" y="1789126"/>
            <a:ext cx="5860869" cy="3792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9298BA-206D-937E-5373-B1951CD61B89}"/>
              </a:ext>
            </a:extLst>
          </p:cNvPr>
          <p:cNvSpPr txBox="1"/>
          <p:nvPr/>
        </p:nvSpPr>
        <p:spPr>
          <a:xfrm>
            <a:off x="6096000" y="5730190"/>
            <a:ext cx="4541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Basic Carry Select Adder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A5967-715F-9BF0-0553-F5074F72AF3B}"/>
              </a:ext>
            </a:extLst>
          </p:cNvPr>
          <p:cNvSpPr txBox="1"/>
          <p:nvPr/>
        </p:nvSpPr>
        <p:spPr>
          <a:xfrm>
            <a:off x="1141413" y="1724431"/>
            <a:ext cx="3686588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carry computation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carry propagation delay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dual RCA and MUX selection</a:t>
            </a:r>
          </a:p>
        </p:txBody>
      </p:sp>
    </p:spTree>
    <p:extLst>
      <p:ext uri="{BB962C8B-B14F-4D97-AF65-F5344CB8AC3E}">
        <p14:creationId xmlns:p14="http://schemas.microsoft.com/office/powerpoint/2010/main" val="994521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1B60-DC9E-C5BA-3676-CD201550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CA41-518F-07A8-18F9-2C6274F6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7536243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Block carry select adder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18D98-9F40-39E2-038C-F8287582AA1C}"/>
              </a:ext>
            </a:extLst>
          </p:cNvPr>
          <p:cNvSpPr txBox="1"/>
          <p:nvPr/>
        </p:nvSpPr>
        <p:spPr>
          <a:xfrm>
            <a:off x="1040829" y="1197228"/>
            <a:ext cx="9870576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2-2-3-4-5-bit grouping for 16-bit &amp; 2-2-3-4-5-6-10 bit grouping for 16-bit 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blocks balance carry chain and MUX delays.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carry computation reduces propagation delay.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Multiplexer-based carry selection improves speed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block sizing balances carry propagation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and hardware overhead. 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6AEF9-BAA9-224C-985D-7C9B6ADA9343}"/>
              </a:ext>
            </a:extLst>
          </p:cNvPr>
          <p:cNvSpPr txBox="1"/>
          <p:nvPr/>
        </p:nvSpPr>
        <p:spPr>
          <a:xfrm>
            <a:off x="987815" y="6513802"/>
            <a:ext cx="5006590" cy="373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16-bit Variable Block CSLA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E9DE3-BA1B-5A00-0C28-B43CE2486BB8}"/>
              </a:ext>
            </a:extLst>
          </p:cNvPr>
          <p:cNvSpPr txBox="1"/>
          <p:nvPr/>
        </p:nvSpPr>
        <p:spPr>
          <a:xfrm>
            <a:off x="6096000" y="6541234"/>
            <a:ext cx="5006590" cy="373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6: 32-bit Variable Block CSLA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737E83-EC05-DB0C-0A0F-9FF256774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11" y="3655624"/>
            <a:ext cx="4342965" cy="2921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1724B-3794-8443-8B6B-DE9DD3BD0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5" y="2804120"/>
            <a:ext cx="5156766" cy="382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1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E224E-DB6C-424D-5491-19C2B4B1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1E1F-5055-B346-8948-78E14BCE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6384099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MTCMOS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E3988-ED24-C5A4-DD3C-9DE75D2537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26769" y="1624009"/>
            <a:ext cx="5341672" cy="270940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PMOS header sleep transistor used for power gating.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VDD disconnects logic block during standby mode.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MTCMOS significantly reduces standby leakage power with moderate delay overhead.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01F7D2-4D0F-56AD-CC4A-0F30913A7726}"/>
              </a:ext>
            </a:extLst>
          </p:cNvPr>
          <p:cNvSpPr/>
          <p:nvPr/>
        </p:nvSpPr>
        <p:spPr>
          <a:xfrm>
            <a:off x="1859631" y="4573470"/>
            <a:ext cx="3133284" cy="11221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B59D4-63F9-CB08-5A71-8CABAFCD05B3}"/>
              </a:ext>
            </a:extLst>
          </p:cNvPr>
          <p:cNvSpPr txBox="1"/>
          <p:nvPr/>
        </p:nvSpPr>
        <p:spPr>
          <a:xfrm>
            <a:off x="2118998" y="4809180"/>
            <a:ext cx="2583542" cy="64633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Mode: Sleep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Standby Mode: Sleep =1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1C0E3C-01E7-3298-4C79-065C0B968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06"/>
          <a:stretch>
            <a:fillRect/>
          </a:stretch>
        </p:blipFill>
        <p:spPr>
          <a:xfrm>
            <a:off x="6568441" y="1864068"/>
            <a:ext cx="4942038" cy="3831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D1549D-FC23-7947-D031-21DE89F52A15}"/>
              </a:ext>
            </a:extLst>
          </p:cNvPr>
          <p:cNvSpPr txBox="1"/>
          <p:nvPr/>
        </p:nvSpPr>
        <p:spPr>
          <a:xfrm>
            <a:off x="6909526" y="5695570"/>
            <a:ext cx="5000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7: MTCMOS Architecture Using PMOS Header Sleep Transistor</a:t>
            </a:r>
          </a:p>
        </p:txBody>
      </p:sp>
    </p:spTree>
    <p:extLst>
      <p:ext uri="{BB962C8B-B14F-4D97-AF65-F5344CB8AC3E}">
        <p14:creationId xmlns:p14="http://schemas.microsoft.com/office/powerpoint/2010/main" val="137113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C426-E665-B5A7-5F78-40C64E65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20C0-A83F-957C-ED1E-2CA86CEC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6384099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transistor optimization</a:t>
            </a:r>
          </a:p>
        </p:txBody>
      </p:sp>
      <p:pic>
        <p:nvPicPr>
          <p:cNvPr id="254" name="Picture 253">
            <a:extLst>
              <a:ext uri="{FF2B5EF4-FFF2-40B4-BE49-F238E27FC236}">
                <a16:creationId xmlns:a16="http://schemas.microsoft.com/office/drawing/2014/main" id="{EED23282-C844-35D2-7DEC-7DFD24944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000" y="1168485"/>
            <a:ext cx="6561445" cy="5225171"/>
          </a:xfrm>
          <a:prstGeom prst="rect">
            <a:avLst/>
          </a:prstGeom>
        </p:spPr>
      </p:pic>
      <p:sp>
        <p:nvSpPr>
          <p:cNvPr id="255" name="TextBox 254">
            <a:extLst>
              <a:ext uri="{FF2B5EF4-FFF2-40B4-BE49-F238E27FC236}">
                <a16:creationId xmlns:a16="http://schemas.microsoft.com/office/drawing/2014/main" id="{390D4CB1-B590-8536-260B-336C5EF085FE}"/>
              </a:ext>
            </a:extLst>
          </p:cNvPr>
          <p:cNvSpPr txBox="1"/>
          <p:nvPr/>
        </p:nvSpPr>
        <p:spPr>
          <a:xfrm>
            <a:off x="5103485" y="6393656"/>
            <a:ext cx="588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8: Flowchart of Selecting optimal Sleep Transistor Width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4EACFC-B2AA-3DAB-F115-DA75E41EA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57" y="1641675"/>
            <a:ext cx="4067743" cy="10383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C62190-B49C-8F9C-4EBF-747DCD27A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46" y="2775770"/>
            <a:ext cx="3677163" cy="762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1E3FB9-8379-D4C6-6E06-9BC0ED478206}"/>
              </a:ext>
            </a:extLst>
          </p:cNvPr>
          <p:cNvSpPr txBox="1"/>
          <p:nvPr/>
        </p:nvSpPr>
        <p:spPr>
          <a:xfrm>
            <a:off x="862555" y="4092944"/>
            <a:ext cx="35905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→ reduces RON​ → reduces IR drop → improves delay but increases area and parasitic capacitance.</a:t>
            </a:r>
          </a:p>
        </p:txBody>
      </p:sp>
    </p:spTree>
    <p:extLst>
      <p:ext uri="{BB962C8B-B14F-4D97-AF65-F5344CB8AC3E}">
        <p14:creationId xmlns:p14="http://schemas.microsoft.com/office/powerpoint/2010/main" val="360905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01011-5D19-EF84-AAFC-2C86983A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6384099" cy="652498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780A5EF6-B769-6567-B325-4873FD44E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2240"/>
            <a:ext cx="12192000" cy="2939286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D4795DA6-AA06-14C2-FA7A-649FCC712C21}"/>
              </a:ext>
            </a:extLst>
          </p:cNvPr>
          <p:cNvSpPr txBox="1"/>
          <p:nvPr/>
        </p:nvSpPr>
        <p:spPr>
          <a:xfrm>
            <a:off x="1141413" y="1646962"/>
            <a:ext cx="10440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for transistor-level low-power RCA and CSLA design using MTCMOS technique.</a:t>
            </a:r>
          </a:p>
        </p:txBody>
      </p:sp>
    </p:spTree>
    <p:extLst>
      <p:ext uri="{BB962C8B-B14F-4D97-AF65-F5344CB8AC3E}">
        <p14:creationId xmlns:p14="http://schemas.microsoft.com/office/powerpoint/2010/main" val="213999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66585-14BF-263F-DF7D-508A816D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5F08-0167-FDCF-F79E-3A6F67FE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545948"/>
            <a:ext cx="5115695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adder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4D6934-96C8-089D-55B4-C411BB28B0BF}"/>
              </a:ext>
            </a:extLst>
          </p:cNvPr>
          <p:cNvSpPr txBox="1"/>
          <p:nvPr/>
        </p:nvSpPr>
        <p:spPr>
          <a:xfrm>
            <a:off x="1141410" y="1345029"/>
            <a:ext cx="5686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Full Adder is the primary building block for any N-bit arithmetic circuit.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6552D0-F39B-6F7C-2AA9-A07341064860}"/>
                  </a:ext>
                </a:extLst>
              </p:cNvPr>
              <p:cNvSpPr txBox="1"/>
              <p:nvPr/>
            </p:nvSpPr>
            <p:spPr>
              <a:xfrm>
                <a:off x="1348236" y="2166759"/>
                <a:ext cx="49545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6552D0-F39B-6F7C-2AA9-A07341064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236" y="2166759"/>
                <a:ext cx="4954590" cy="369332"/>
              </a:xfrm>
              <a:prstGeom prst="rect">
                <a:avLst/>
              </a:prstGeom>
              <a:blipFill>
                <a:blip r:embed="rId2"/>
                <a:stretch>
                  <a:fillRect l="-984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A59A129-2071-6FE0-3E71-3FD66E312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721" y="739045"/>
            <a:ext cx="3508588" cy="3571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C38382-EE37-8695-D84A-D7D05BECE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0" y="3043264"/>
            <a:ext cx="3963990" cy="3290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A40FA5-DF1D-7E65-D6C7-62E0AC73C35E}"/>
                  </a:ext>
                </a:extLst>
              </p:cNvPr>
              <p:cNvSpPr txBox="1"/>
              <p:nvPr/>
            </p:nvSpPr>
            <p:spPr>
              <a:xfrm>
                <a:off x="5432556" y="4978203"/>
                <a:ext cx="6103620" cy="1477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Canonical SOP form: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cs typeface="+mj-cs"/>
                        </a:rPr>
                        <m:t>𝑆𝑢𝑚</m:t>
                      </m:r>
                      <m:r>
                        <a:rPr lang="en-US" i="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  <m:t>𝐵</m:t>
                          </m:r>
                        </m:e>
                      </m:acc>
                      <m:r>
                        <a:rPr lang="ar-AE" i="1">
                          <a:latin typeface="Cambria Math" panose="02040503050406030204" pitchFamily="18" charset="0"/>
                          <a:cs typeface="+mj-cs"/>
                        </a:rPr>
                        <m:t>𝐶𝑖𝑛</m:t>
                      </m:r>
                      <m:r>
                        <a:rPr lang="ar-AE" i="0">
                          <a:latin typeface="Cambria Math" panose="02040503050406030204" pitchFamily="18" charset="0"/>
                          <a:cs typeface="+mj-cs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cs typeface="+mj-cs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+mj-cs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+mj-cs"/>
                            </a:rPr>
                            <m:t>𝑖𝑛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  <a:cs typeface="+mj-cs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+mj-cs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+mj-cs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+mj-cs"/>
                            </a:rPr>
                            <m:t>𝑖𝑛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  <a:cs typeface="+mj-cs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  <a:cs typeface="+mj-cs"/>
                        </a:rPr>
                        <m:t>𝐴𝐵𝐶𝑖𝑛</m:t>
                      </m:r>
                    </m:oMath>
                  </m:oMathPara>
                </a14:m>
                <a:endParaRPr lang="en-US" dirty="0">
                  <a:cs typeface="+mj-cs"/>
                </a:endParaRPr>
              </a:p>
              <a:p>
                <a:pPr>
                  <a:buNone/>
                </a:pPr>
                <a:endParaRPr lang="ar-AE" dirty="0">
                  <a:cs typeface="+mj-cs"/>
                </a:endParaRPr>
              </a:p>
              <a:p>
                <a:pPr algn="l">
                  <a:buNone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Simplified XOR form:</a:t>
                </a:r>
                <a:endParaRPr lang="en-US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cs typeface="+mj-cs"/>
                        </a:rPr>
                        <m:t>𝑆𝑢𝑚</m:t>
                      </m:r>
                      <m:r>
                        <a:rPr lang="en-US" i="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+mj-cs"/>
                        </a:rPr>
                        <m:t>𝐴</m:t>
                      </m:r>
                      <m:r>
                        <a:rPr lang="en-US" i="0">
                          <a:latin typeface="Cambria Math" panose="02040503050406030204" pitchFamily="18" charset="0"/>
                          <a:cs typeface="+mj-cs"/>
                        </a:rPr>
                        <m:t>⊕</m:t>
                      </m:r>
                      <m:r>
                        <a:rPr lang="en-US" i="1">
                          <a:latin typeface="Cambria Math" panose="02040503050406030204" pitchFamily="18" charset="0"/>
                          <a:cs typeface="+mj-cs"/>
                        </a:rPr>
                        <m:t>𝐵</m:t>
                      </m:r>
                      <m:r>
                        <a:rPr lang="en-US" i="0">
                          <a:latin typeface="Cambria Math" panose="02040503050406030204" pitchFamily="18" charset="0"/>
                          <a:cs typeface="+mj-cs"/>
                        </a:rPr>
                        <m:t>⊕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  <a:cs typeface="+mj-cs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cs typeface="+mj-cs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ar-AE" b="0" i="0" dirty="0">
                  <a:solidFill>
                    <a:srgbClr val="0D0D0D"/>
                  </a:solidFill>
                  <a:effectLst/>
                  <a:latin typeface="-apple-system-body"/>
                  <a:cs typeface="+mj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A40FA5-DF1D-7E65-D6C7-62E0AC7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56" y="4978203"/>
                <a:ext cx="6103620" cy="1477905"/>
              </a:xfrm>
              <a:prstGeom prst="rect">
                <a:avLst/>
              </a:prstGeom>
              <a:blipFill>
                <a:blip r:embed="rId5"/>
                <a:stretch>
                  <a:fillRect l="-799" t="-2479" b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563CD10-F59C-67FA-9429-FDEDFD03B1CF}"/>
              </a:ext>
            </a:extLst>
          </p:cNvPr>
          <p:cNvSpPr txBox="1"/>
          <p:nvPr/>
        </p:nvSpPr>
        <p:spPr>
          <a:xfrm>
            <a:off x="1299746" y="6351214"/>
            <a:ext cx="396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9.b: AOI logic diagram of  Sum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7AC743-1FEF-49D8-1576-AB6B00A2A1AD}"/>
              </a:ext>
            </a:extLst>
          </p:cNvPr>
          <p:cNvSpPr txBox="1"/>
          <p:nvPr/>
        </p:nvSpPr>
        <p:spPr>
          <a:xfrm>
            <a:off x="7405265" y="4310737"/>
            <a:ext cx="4087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9.a: AOI logic diagram of Carry-out</a:t>
            </a:r>
          </a:p>
        </p:txBody>
      </p:sp>
    </p:spTree>
    <p:extLst>
      <p:ext uri="{BB962C8B-B14F-4D97-AF65-F5344CB8AC3E}">
        <p14:creationId xmlns:p14="http://schemas.microsoft.com/office/powerpoint/2010/main" val="1130260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DE99DF7-CC36-E4C4-7F99-86518188F15F}"/>
              </a:ext>
            </a:extLst>
          </p:cNvPr>
          <p:cNvSpPr txBox="1"/>
          <p:nvPr/>
        </p:nvSpPr>
        <p:spPr>
          <a:xfrm>
            <a:off x="1141411" y="1582340"/>
            <a:ext cx="38046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Gate based MUX provides full voltage swing with reduced threshold voltage degradation compared to pass transistor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critical component for the Carry-Select architecture, implemented using transmission Gate  for minimal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 logic improves signal integrity compared to pass transistor logic.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3A7B7-97DD-A8BA-A3F2-16CD420F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545948"/>
            <a:ext cx="5115695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 MUX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7F2D5-03B2-2FF2-7DB6-55479C537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153" y="2083818"/>
            <a:ext cx="6187890" cy="3359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2B98BD-DDDC-F540-76D9-E84FDBE87B1C}"/>
              </a:ext>
            </a:extLst>
          </p:cNvPr>
          <p:cNvSpPr txBox="1"/>
          <p:nvPr/>
        </p:nvSpPr>
        <p:spPr>
          <a:xfrm>
            <a:off x="6096000" y="5443649"/>
            <a:ext cx="45947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10: AOI logic diagram of 2:1 Multiplexer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38017-7131-F943-2322-E34620CA4E92}"/>
                  </a:ext>
                </a:extLst>
              </p:cNvPr>
              <p:cNvSpPr txBox="1"/>
              <p:nvPr/>
            </p:nvSpPr>
            <p:spPr>
              <a:xfrm>
                <a:off x="7245929" y="1414351"/>
                <a:ext cx="2009306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acc>
                              <m:accPr>
                                <m:chr m:val="‾"/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38017-7131-F943-2322-E34620CA4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929" y="1414351"/>
                <a:ext cx="2009306" cy="369332"/>
              </a:xfrm>
              <a:prstGeom prst="rect">
                <a:avLst/>
              </a:prstGeom>
              <a:blipFill>
                <a:blip r:embed="rId3"/>
                <a:stretch>
                  <a:fillRect r="-120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79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9D2DC-0523-5734-F046-CF5F5513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799E496-EDBE-D2FA-78E3-3465EAB56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682" y="1106923"/>
            <a:ext cx="8626635" cy="54700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93068C-3D73-058E-A3DB-A4DDBE4FC455}"/>
              </a:ext>
            </a:extLst>
          </p:cNvPr>
          <p:cNvSpPr txBox="1"/>
          <p:nvPr/>
        </p:nvSpPr>
        <p:spPr>
          <a:xfrm>
            <a:off x="3468586" y="6516002"/>
            <a:ext cx="608689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11: Cadence Virtuoso Schematic of 1-bit Full Adder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8628D8-B2DC-E604-4B92-F8AE9B26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545948"/>
            <a:ext cx="5115695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adder design</a:t>
            </a:r>
          </a:p>
        </p:txBody>
      </p:sp>
    </p:spTree>
    <p:extLst>
      <p:ext uri="{BB962C8B-B14F-4D97-AF65-F5344CB8AC3E}">
        <p14:creationId xmlns:p14="http://schemas.microsoft.com/office/powerpoint/2010/main" val="395217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0121-D6F0-C095-D573-5AD6568A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7C2EF63-311A-9611-CD2B-2EB43B95E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299" y="1579419"/>
            <a:ext cx="7645402" cy="4732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BB4367-DF90-5313-12BE-73EBEB3F7BE8}"/>
              </a:ext>
            </a:extLst>
          </p:cNvPr>
          <p:cNvSpPr txBox="1"/>
          <p:nvPr/>
        </p:nvSpPr>
        <p:spPr>
          <a:xfrm>
            <a:off x="3291840" y="6312052"/>
            <a:ext cx="62941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12: Cadence Schematic of TG-Based 2:1 Multiplexer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361F51-341C-4D12-3506-1F3A22DB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45948"/>
            <a:ext cx="2901952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 MUX Design</a:t>
            </a:r>
          </a:p>
        </p:txBody>
      </p:sp>
    </p:spTree>
    <p:extLst>
      <p:ext uri="{BB962C8B-B14F-4D97-AF65-F5344CB8AC3E}">
        <p14:creationId xmlns:p14="http://schemas.microsoft.com/office/powerpoint/2010/main" val="262034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FE4A1-CE00-2188-005F-13BA37DA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3FB8CF9-9285-0BAB-4E2A-D3D1B4EC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45948"/>
            <a:ext cx="6960172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 bit Carry select adder 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D32C6D-BC6F-4CF1-04B9-90EB1D09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230" y="1367678"/>
            <a:ext cx="5731510" cy="19989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7916F5-D3D3-7BA0-96A8-3B165C7D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66" y="1367678"/>
            <a:ext cx="6306464" cy="1998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9656B-8AA4-559E-C322-EAE493ADF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500" y="4206312"/>
            <a:ext cx="5308540" cy="2114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E021A-685A-2FE5-9A08-1C95958B7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510" y="4197532"/>
            <a:ext cx="6475740" cy="2123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0DDA14-6EEF-C2A3-40E5-EB9B31CFF0CD}"/>
              </a:ext>
            </a:extLst>
          </p:cNvPr>
          <p:cNvSpPr txBox="1"/>
          <p:nvPr/>
        </p:nvSpPr>
        <p:spPr>
          <a:xfrm>
            <a:off x="3011865" y="3366658"/>
            <a:ext cx="62941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13.a: Schematic of 16-bit Variable Block CSLA (2-2-3-4-5)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1D65B-5694-4BD9-9D39-835F94937469}"/>
              </a:ext>
            </a:extLst>
          </p:cNvPr>
          <p:cNvSpPr txBox="1"/>
          <p:nvPr/>
        </p:nvSpPr>
        <p:spPr>
          <a:xfrm>
            <a:off x="3011865" y="6476644"/>
            <a:ext cx="65692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13.b: Schematic of 32-bit Variable Block CSLA (2-2-3-4-5-6-10)</a:t>
            </a:r>
          </a:p>
        </p:txBody>
      </p:sp>
    </p:spTree>
    <p:extLst>
      <p:ext uri="{BB962C8B-B14F-4D97-AF65-F5344CB8AC3E}">
        <p14:creationId xmlns:p14="http://schemas.microsoft.com/office/powerpoint/2010/main" val="2244012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5B08-B314-8122-29BF-7685A59E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39CAA1-553E-E89D-A479-4F57A947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45948"/>
            <a:ext cx="8066596" cy="821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Sleep Transistor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C1E669-218F-2CAC-CC50-6BC538649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10" y="3509675"/>
            <a:ext cx="5912866" cy="29852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C85AB4-F389-1F52-2F4F-A38E4E20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49" y="2957982"/>
            <a:ext cx="2743200" cy="3536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A3FF60-5425-CB68-39D5-320B97D1D2D3}"/>
              </a:ext>
            </a:extLst>
          </p:cNvPr>
          <p:cNvSpPr txBox="1"/>
          <p:nvPr/>
        </p:nvSpPr>
        <p:spPr>
          <a:xfrm>
            <a:off x="6784848" y="6488668"/>
            <a:ext cx="40507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15: Sleep Transistor in CSLA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93D9B-D61A-1307-0F02-6C78EA32CE0E}"/>
              </a:ext>
            </a:extLst>
          </p:cNvPr>
          <p:cNvSpPr txBox="1"/>
          <p:nvPr/>
        </p:nvSpPr>
        <p:spPr>
          <a:xfrm>
            <a:off x="1038537" y="6470380"/>
            <a:ext cx="348774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14: Sleep Transistor in RCA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F3338-C9C6-3FFB-3193-76369D2CD0A3}"/>
              </a:ext>
            </a:extLst>
          </p:cNvPr>
          <p:cNvSpPr txBox="1"/>
          <p:nvPr/>
        </p:nvSpPr>
        <p:spPr>
          <a:xfrm>
            <a:off x="1159700" y="1534887"/>
            <a:ext cx="7408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Covered: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to both 16-bit Ripple Carry Adder and 16-bit Carry Select Adder.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Environment: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  utilizing gpdk090 high-threshold voltage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devices.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F226D8-2E82-EED3-6FFE-0A2162839D24}"/>
              </a:ext>
            </a:extLst>
          </p:cNvPr>
          <p:cNvSpPr/>
          <p:nvPr/>
        </p:nvSpPr>
        <p:spPr>
          <a:xfrm>
            <a:off x="8549640" y="1951885"/>
            <a:ext cx="2694236" cy="1481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Finger Width = 2.5 µm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Fingers = 100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100 nm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Width = 250 µm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8DC71-E5C0-C7CA-97BC-43A21CC31226}"/>
              </a:ext>
            </a:extLst>
          </p:cNvPr>
          <p:cNvSpPr txBox="1"/>
          <p:nvPr/>
        </p:nvSpPr>
        <p:spPr>
          <a:xfrm>
            <a:off x="1205420" y="1211794"/>
            <a:ext cx="9694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Power-Gating Mechanism: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a PMOS sleep transistor to control static power.</a:t>
            </a:r>
          </a:p>
        </p:txBody>
      </p:sp>
    </p:spTree>
    <p:extLst>
      <p:ext uri="{BB962C8B-B14F-4D97-AF65-F5344CB8AC3E}">
        <p14:creationId xmlns:p14="http://schemas.microsoft.com/office/powerpoint/2010/main" val="4104787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>
            <a:spLocks noGrp="1"/>
          </p:cNvSpPr>
          <p:nvPr>
            <p:ph type="title"/>
          </p:nvPr>
        </p:nvSpPr>
        <p:spPr>
          <a:xfrm>
            <a:off x="1141412" y="545948"/>
            <a:ext cx="80667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INTEGRATION OF SLEEP TRANSISTOR DESIGN</a:t>
            </a:r>
            <a:endParaRPr/>
          </a:p>
        </p:txBody>
      </p:sp>
      <p:pic>
        <p:nvPicPr>
          <p:cNvPr id="422" name="Google Shape;4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1215248"/>
            <a:ext cx="7778327" cy="518555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/>
        </p:nvSpPr>
        <p:spPr>
          <a:xfrm>
            <a:off x="3940048" y="6348993"/>
            <a:ext cx="405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15.b.: Layout of Sleep Transistor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DF07-F862-7D31-4A00-51ADC034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21C3-C189-32A7-14C5-82511D8D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4115C0-6E84-E8DD-464F-36A7B3B17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50" y="1764856"/>
            <a:ext cx="6092453" cy="33282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AB2190B-2E8D-23E9-D4EA-A191FD8E94E9}"/>
              </a:ext>
            </a:extLst>
          </p:cNvPr>
          <p:cNvSpPr txBox="1"/>
          <p:nvPr/>
        </p:nvSpPr>
        <p:spPr>
          <a:xfrm>
            <a:off x="1282577" y="5099832"/>
            <a:ext cx="473477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16.a: Transient response of 1-bit Full Adder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2E6377-2C79-AF89-49FF-224C2885CBE0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Functional Verification of Full Adder and Multiplexer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232D10-BF32-E47B-70B6-2CD06A3D7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759" y="1692264"/>
            <a:ext cx="5016886" cy="34734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FE7383-6E05-819F-4B51-1637C31B7449}"/>
              </a:ext>
            </a:extLst>
          </p:cNvPr>
          <p:cNvSpPr txBox="1"/>
          <p:nvPr/>
        </p:nvSpPr>
        <p:spPr>
          <a:xfrm>
            <a:off x="7360920" y="5151647"/>
            <a:ext cx="463600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16.b: Transient response of 2:1 Multiplexer</a:t>
            </a:r>
          </a:p>
        </p:txBody>
      </p:sp>
    </p:spTree>
    <p:extLst>
      <p:ext uri="{BB962C8B-B14F-4D97-AF65-F5344CB8AC3E}">
        <p14:creationId xmlns:p14="http://schemas.microsoft.com/office/powerpoint/2010/main" val="1987517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E80E-544A-BB84-8C41-ACFD367D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3F6C-7A24-FC23-A505-0D201863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FAE67D-B603-D854-F85E-ECB53D4794BE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Functional Verification of Ripple Carry Adder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B9B8F7-6209-4A67-35D5-5FFD1E48B692}"/>
              </a:ext>
            </a:extLst>
          </p:cNvPr>
          <p:cNvSpPr txBox="1"/>
          <p:nvPr/>
        </p:nvSpPr>
        <p:spPr>
          <a:xfrm>
            <a:off x="3777996" y="6175775"/>
            <a:ext cx="51008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17: Transient response 4-bit Ripple Carry Adder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D5C79-7B45-734A-778C-FFDCDABB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321" y="1488381"/>
            <a:ext cx="9575355" cy="472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3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8304-C069-9BD8-0AD5-71086179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CAD9-C732-B82E-2161-0C57D2B0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FC951-5236-330C-E3A1-1409CE05C7D2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Functional Verification of Carry select Adder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687A4B-37D7-AC74-0AA2-F6375F4ADDAE}"/>
              </a:ext>
            </a:extLst>
          </p:cNvPr>
          <p:cNvSpPr txBox="1"/>
          <p:nvPr/>
        </p:nvSpPr>
        <p:spPr>
          <a:xfrm>
            <a:off x="3777996" y="6175775"/>
            <a:ext cx="592480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17: Transient response of 32-bit Carry Select Adder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129A3-F380-EAFA-E6F9-6FC3104A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53" y="1988912"/>
            <a:ext cx="6072187" cy="3355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6CCEF1-EA64-A525-B398-E14ED62A8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410" y="2153168"/>
            <a:ext cx="5635879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33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85CC-276D-3EFB-5E89-04F91281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314B-F74F-C927-0CD4-DB17923E3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F6BCB2E-B6D8-5EC4-976B-626599F8AA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5589797"/>
                  </p:ext>
                </p:extLst>
              </p:nvPr>
            </p:nvGraphicFramePr>
            <p:xfrm>
              <a:off x="671721" y="2016590"/>
              <a:ext cx="4717143" cy="4576904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26469">
                      <a:extLst>
                        <a:ext uri="{9D8B030D-6E8A-4147-A177-3AD203B41FA5}">
                          <a16:colId xmlns:a16="http://schemas.microsoft.com/office/drawing/2014/main" val="535616546"/>
                        </a:ext>
                      </a:extLst>
                    </a:gridCol>
                    <a:gridCol w="1618293">
                      <a:extLst>
                        <a:ext uri="{9D8B030D-6E8A-4147-A177-3AD203B41FA5}">
                          <a16:colId xmlns:a16="http://schemas.microsoft.com/office/drawing/2014/main" val="3723331869"/>
                        </a:ext>
                      </a:extLst>
                    </a:gridCol>
                    <a:gridCol w="1572381">
                      <a:extLst>
                        <a:ext uri="{9D8B030D-6E8A-4147-A177-3AD203B41FA5}">
                          <a16:colId xmlns:a16="http://schemas.microsoft.com/office/drawing/2014/main" val="2359207687"/>
                        </a:ext>
                      </a:extLst>
                    </a:gridCol>
                  </a:tblGrid>
                  <a:tr h="434324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Power (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oMath>
                          </a14:m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29470697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Architecture (bit)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8855113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0.357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2099284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4.333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964884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5.996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7071190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7779956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15.65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987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F6BCB2E-B6D8-5EC4-976B-626599F8AA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5589797"/>
                  </p:ext>
                </p:extLst>
              </p:nvPr>
            </p:nvGraphicFramePr>
            <p:xfrm>
              <a:off x="671721" y="2016590"/>
              <a:ext cx="4717143" cy="4576904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26469">
                      <a:extLst>
                        <a:ext uri="{9D8B030D-6E8A-4147-A177-3AD203B41FA5}">
                          <a16:colId xmlns:a16="http://schemas.microsoft.com/office/drawing/2014/main" val="535616546"/>
                        </a:ext>
                      </a:extLst>
                    </a:gridCol>
                    <a:gridCol w="1618293">
                      <a:extLst>
                        <a:ext uri="{9D8B030D-6E8A-4147-A177-3AD203B41FA5}">
                          <a16:colId xmlns:a16="http://schemas.microsoft.com/office/drawing/2014/main" val="3723331869"/>
                        </a:ext>
                      </a:extLst>
                    </a:gridCol>
                    <a:gridCol w="1572381">
                      <a:extLst>
                        <a:ext uri="{9D8B030D-6E8A-4147-A177-3AD203B41FA5}">
                          <a16:colId xmlns:a16="http://schemas.microsoft.com/office/drawing/2014/main" val="2359207687"/>
                        </a:ext>
                      </a:extLst>
                    </a:gridCol>
                  </a:tblGrid>
                  <a:tr h="434324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901" t="-7042" r="-573" b="-96197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29470697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Architecture (bit)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8855113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0.357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2099284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4.333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964884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5.996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7071190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7779956"/>
                      </a:ext>
                    </a:extLst>
                  </a:tr>
                  <a:tr h="690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15.65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987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19A802C-CDAD-4861-D081-4FB71AB5ACB0}"/>
              </a:ext>
            </a:extLst>
          </p:cNvPr>
          <p:cNvSpPr txBox="1"/>
          <p:nvPr/>
        </p:nvSpPr>
        <p:spPr>
          <a:xfrm>
            <a:off x="1900427" y="1565164"/>
            <a:ext cx="300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power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6F2C120-7497-85F5-115A-00CF70B6E1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8004670"/>
                  </p:ext>
                </p:extLst>
              </p:nvPr>
            </p:nvGraphicFramePr>
            <p:xfrm>
              <a:off x="6070527" y="1934496"/>
              <a:ext cx="5378701" cy="4669537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34002">
                      <a:extLst>
                        <a:ext uri="{9D8B030D-6E8A-4147-A177-3AD203B41FA5}">
                          <a16:colId xmlns:a16="http://schemas.microsoft.com/office/drawing/2014/main" val="535616546"/>
                        </a:ext>
                      </a:extLst>
                    </a:gridCol>
                    <a:gridCol w="961175">
                      <a:extLst>
                        <a:ext uri="{9D8B030D-6E8A-4147-A177-3AD203B41FA5}">
                          <a16:colId xmlns:a16="http://schemas.microsoft.com/office/drawing/2014/main" val="3723331869"/>
                        </a:ext>
                      </a:extLst>
                    </a:gridCol>
                    <a:gridCol w="1010048">
                      <a:extLst>
                        <a:ext uri="{9D8B030D-6E8A-4147-A177-3AD203B41FA5}">
                          <a16:colId xmlns:a16="http://schemas.microsoft.com/office/drawing/2014/main" val="2359207687"/>
                        </a:ext>
                      </a:extLst>
                    </a:gridCol>
                    <a:gridCol w="928592">
                      <a:extLst>
                        <a:ext uri="{9D8B030D-6E8A-4147-A177-3AD203B41FA5}">
                          <a16:colId xmlns:a16="http://schemas.microsoft.com/office/drawing/2014/main" val="561711040"/>
                        </a:ext>
                      </a:extLst>
                    </a:gridCol>
                    <a:gridCol w="944884">
                      <a:extLst>
                        <a:ext uri="{9D8B030D-6E8A-4147-A177-3AD203B41FA5}">
                          <a16:colId xmlns:a16="http://schemas.microsoft.com/office/drawing/2014/main" val="1060865226"/>
                        </a:ext>
                      </a:extLst>
                    </a:gridCol>
                  </a:tblGrid>
                  <a:tr h="700198"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Leakage Power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Dynamic Power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83121307"/>
                      </a:ext>
                    </a:extLst>
                  </a:tr>
                  <a:tr h="7772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Architecture (bit)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8855113"/>
                      </a:ext>
                    </a:extLst>
                  </a:tr>
                  <a:tr h="7772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0.219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3.699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964884"/>
                      </a:ext>
                    </a:extLst>
                  </a:tr>
                  <a:tr h="7772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2.573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4.736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7071190"/>
                      </a:ext>
                    </a:extLst>
                  </a:tr>
                  <a:tr h="818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5.552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5.178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7779956"/>
                      </a:ext>
                    </a:extLst>
                  </a:tr>
                  <a:tr h="818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10.534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9065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6F2C120-7497-85F5-115A-00CF70B6E1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8004670"/>
                  </p:ext>
                </p:extLst>
              </p:nvPr>
            </p:nvGraphicFramePr>
            <p:xfrm>
              <a:off x="6070527" y="1934496"/>
              <a:ext cx="5378701" cy="4669537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34002">
                      <a:extLst>
                        <a:ext uri="{9D8B030D-6E8A-4147-A177-3AD203B41FA5}">
                          <a16:colId xmlns:a16="http://schemas.microsoft.com/office/drawing/2014/main" val="535616546"/>
                        </a:ext>
                      </a:extLst>
                    </a:gridCol>
                    <a:gridCol w="961175">
                      <a:extLst>
                        <a:ext uri="{9D8B030D-6E8A-4147-A177-3AD203B41FA5}">
                          <a16:colId xmlns:a16="http://schemas.microsoft.com/office/drawing/2014/main" val="3723331869"/>
                        </a:ext>
                      </a:extLst>
                    </a:gridCol>
                    <a:gridCol w="1010048">
                      <a:extLst>
                        <a:ext uri="{9D8B030D-6E8A-4147-A177-3AD203B41FA5}">
                          <a16:colId xmlns:a16="http://schemas.microsoft.com/office/drawing/2014/main" val="2359207687"/>
                        </a:ext>
                      </a:extLst>
                    </a:gridCol>
                    <a:gridCol w="928592">
                      <a:extLst>
                        <a:ext uri="{9D8B030D-6E8A-4147-A177-3AD203B41FA5}">
                          <a16:colId xmlns:a16="http://schemas.microsoft.com/office/drawing/2014/main" val="561711040"/>
                        </a:ext>
                      </a:extLst>
                    </a:gridCol>
                    <a:gridCol w="944884">
                      <a:extLst>
                        <a:ext uri="{9D8B030D-6E8A-4147-A177-3AD203B41FA5}">
                          <a16:colId xmlns:a16="http://schemas.microsoft.com/office/drawing/2014/main" val="1060865226"/>
                        </a:ext>
                      </a:extLst>
                    </a:gridCol>
                  </a:tblGrid>
                  <a:tr h="700198"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086" t="-1739" r="-95679" b="-56869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7338" t="-1739" r="-649" b="-56869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83121307"/>
                      </a:ext>
                    </a:extLst>
                  </a:tr>
                  <a:tr h="7772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Architecture (bit)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8855113"/>
                      </a:ext>
                    </a:extLst>
                  </a:tr>
                  <a:tr h="7772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0.219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3.699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964884"/>
                      </a:ext>
                    </a:extLst>
                  </a:tr>
                  <a:tr h="7772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2.573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4.736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7071190"/>
                      </a:ext>
                    </a:extLst>
                  </a:tr>
                  <a:tr h="818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5.552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5.178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7779956"/>
                      </a:ext>
                    </a:extLst>
                  </a:tr>
                  <a:tr h="818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10.534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90657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358F23-F6DB-13AA-FDF4-949B7E5178EA}"/>
              </a:ext>
            </a:extLst>
          </p:cNvPr>
          <p:cNvSpPr txBox="1"/>
          <p:nvPr/>
        </p:nvSpPr>
        <p:spPr>
          <a:xfrm>
            <a:off x="7375507" y="1565164"/>
            <a:ext cx="300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&amp; Dynamic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3E881-E5C0-130B-9385-0BA0118F44F2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Power Analysis </a:t>
            </a:r>
          </a:p>
        </p:txBody>
      </p:sp>
    </p:spTree>
    <p:extLst>
      <p:ext uri="{BB962C8B-B14F-4D97-AF65-F5344CB8AC3E}">
        <p14:creationId xmlns:p14="http://schemas.microsoft.com/office/powerpoint/2010/main" val="1241220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8AF53-4A39-653E-4BD4-6C61A314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0E53-8EBB-AEAD-CFF5-F221DA0C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9AAB9-D994-8A28-1B07-6A7721534DFD}"/>
              </a:ext>
            </a:extLst>
          </p:cNvPr>
          <p:cNvSpPr txBox="1"/>
          <p:nvPr/>
        </p:nvSpPr>
        <p:spPr>
          <a:xfrm>
            <a:off x="2392820" y="1592774"/>
            <a:ext cx="300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– delay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D9D8E02-F6E3-6815-EB50-21A1B70F53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2763058"/>
                  </p:ext>
                </p:extLst>
              </p:nvPr>
            </p:nvGraphicFramePr>
            <p:xfrm>
              <a:off x="801256" y="1962106"/>
              <a:ext cx="6472380" cy="4592660"/>
            </p:xfrm>
            <a:graphic>
              <a:graphicData uri="http://schemas.openxmlformats.org/drawingml/2006/table">
                <a:tbl>
                  <a:tblPr/>
                  <a:tblGrid>
                    <a:gridCol w="759141">
                      <a:extLst>
                        <a:ext uri="{9D8B030D-6E8A-4147-A177-3AD203B41FA5}">
                          <a16:colId xmlns:a16="http://schemas.microsoft.com/office/drawing/2014/main" val="1205945389"/>
                        </a:ext>
                      </a:extLst>
                    </a:gridCol>
                    <a:gridCol w="877229">
                      <a:extLst>
                        <a:ext uri="{9D8B030D-6E8A-4147-A177-3AD203B41FA5}">
                          <a16:colId xmlns:a16="http://schemas.microsoft.com/office/drawing/2014/main" val="2670197084"/>
                        </a:ext>
                      </a:extLst>
                    </a:gridCol>
                    <a:gridCol w="956738">
                      <a:extLst>
                        <a:ext uri="{9D8B030D-6E8A-4147-A177-3AD203B41FA5}">
                          <a16:colId xmlns:a16="http://schemas.microsoft.com/office/drawing/2014/main" val="3987958434"/>
                        </a:ext>
                      </a:extLst>
                    </a:gridCol>
                    <a:gridCol w="955963">
                      <a:extLst>
                        <a:ext uri="{9D8B030D-6E8A-4147-A177-3AD203B41FA5}">
                          <a16:colId xmlns:a16="http://schemas.microsoft.com/office/drawing/2014/main" val="3832972765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665678873"/>
                        </a:ext>
                      </a:extLst>
                    </a:gridCol>
                    <a:gridCol w="986289">
                      <a:extLst>
                        <a:ext uri="{9D8B030D-6E8A-4147-A177-3AD203B41FA5}">
                          <a16:colId xmlns:a16="http://schemas.microsoft.com/office/drawing/2014/main" val="223585387"/>
                        </a:ext>
                      </a:extLst>
                    </a:gridCol>
                    <a:gridCol w="967202">
                      <a:extLst>
                        <a:ext uri="{9D8B030D-6E8A-4147-A177-3AD203B41FA5}">
                          <a16:colId xmlns:a16="http://schemas.microsoft.com/office/drawing/2014/main" val="2726574949"/>
                        </a:ext>
                      </a:extLst>
                    </a:gridCol>
                  </a:tblGrid>
                  <a:tr h="30583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Architecture (bit)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 gridSpan="2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 </a:t>
                          </a:r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oMath>
                          </a14:m>
                          <a:r>
                            <a:rPr lang="en-US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 hMerge="1"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121920" marB="121920" anchor="ctr"/>
                    </a:tc>
                    <a:tc gridSpan="2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Delay </a:t>
                          </a:r>
                          <a:r>
                            <a:rPr lang="en-US" sz="1800" b="1" kern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>
                                  <a:effectLst/>
                                  <a:latin typeface="Cambria Math" panose="02040503050406030204" pitchFamily="18" charset="0"/>
                                </a:rPr>
                                <m:t>𝐩𝐒</m:t>
                              </m:r>
                            </m:oMath>
                          </a14:m>
                          <a:r>
                            <a:rPr lang="en-US" sz="1800" b="1" kern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 hMerge="1"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121920" marB="121920" anchor="ctr"/>
                    </a:tc>
                    <a:tc gridSpan="2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PDP </a:t>
                          </a:r>
                          <a:r>
                            <a:rPr lang="en-US" sz="1800" b="1" kern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>
                                  <a:effectLst/>
                                  <a:latin typeface="Cambria Math" panose="02040503050406030204" pitchFamily="18" charset="0"/>
                                </a:rPr>
                                <m:t>𝐟𝐉</m:t>
                              </m:r>
                            </m:oMath>
                          </a14:m>
                          <a:r>
                            <a:rPr lang="en-US" sz="1800" b="1" kern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 hMerge="1"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2404053554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endParaRPr lang="en-US" sz="1800" b="1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  <a:endParaRPr lang="en-US" sz="1800" b="1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  <a:endParaRPr lang="en-US" sz="1800" b="1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7878205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1.512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4.333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297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0.449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0.468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110083107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3.003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5.996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735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466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2.207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2.795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225834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6.422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7.248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1435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872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9.216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6.311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829296503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12.40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15.65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2870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1375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35.5880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21.5188</a:t>
                          </a: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31747476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D9D8E02-F6E3-6815-EB50-21A1B70F53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2763058"/>
                  </p:ext>
                </p:extLst>
              </p:nvPr>
            </p:nvGraphicFramePr>
            <p:xfrm>
              <a:off x="801256" y="1962106"/>
              <a:ext cx="6472380" cy="4592660"/>
            </p:xfrm>
            <a:graphic>
              <a:graphicData uri="http://schemas.openxmlformats.org/drawingml/2006/table">
                <a:tbl>
                  <a:tblPr/>
                  <a:tblGrid>
                    <a:gridCol w="759141">
                      <a:extLst>
                        <a:ext uri="{9D8B030D-6E8A-4147-A177-3AD203B41FA5}">
                          <a16:colId xmlns:a16="http://schemas.microsoft.com/office/drawing/2014/main" val="1205945389"/>
                        </a:ext>
                      </a:extLst>
                    </a:gridCol>
                    <a:gridCol w="877229">
                      <a:extLst>
                        <a:ext uri="{9D8B030D-6E8A-4147-A177-3AD203B41FA5}">
                          <a16:colId xmlns:a16="http://schemas.microsoft.com/office/drawing/2014/main" val="2670197084"/>
                        </a:ext>
                      </a:extLst>
                    </a:gridCol>
                    <a:gridCol w="956738">
                      <a:extLst>
                        <a:ext uri="{9D8B030D-6E8A-4147-A177-3AD203B41FA5}">
                          <a16:colId xmlns:a16="http://schemas.microsoft.com/office/drawing/2014/main" val="3987958434"/>
                        </a:ext>
                      </a:extLst>
                    </a:gridCol>
                    <a:gridCol w="955963">
                      <a:extLst>
                        <a:ext uri="{9D8B030D-6E8A-4147-A177-3AD203B41FA5}">
                          <a16:colId xmlns:a16="http://schemas.microsoft.com/office/drawing/2014/main" val="3832972765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665678873"/>
                        </a:ext>
                      </a:extLst>
                    </a:gridCol>
                    <a:gridCol w="986289">
                      <a:extLst>
                        <a:ext uri="{9D8B030D-6E8A-4147-A177-3AD203B41FA5}">
                          <a16:colId xmlns:a16="http://schemas.microsoft.com/office/drawing/2014/main" val="223585387"/>
                        </a:ext>
                      </a:extLst>
                    </a:gridCol>
                    <a:gridCol w="967202">
                      <a:extLst>
                        <a:ext uri="{9D8B030D-6E8A-4147-A177-3AD203B41FA5}">
                          <a16:colId xmlns:a16="http://schemas.microsoft.com/office/drawing/2014/main" val="2726574949"/>
                        </a:ext>
                      </a:extLst>
                    </a:gridCol>
                  </a:tblGrid>
                  <a:tr h="134112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Architecture (bit)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21920" marB="121920" anchor="ctr">
                        <a:blipFill>
                          <a:blip r:embed="rId3"/>
                          <a:stretch>
                            <a:fillRect l="-41860" t="-455" r="-212292" b="-2440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121920" marB="121920"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21920" marB="121920" anchor="ctr">
                        <a:blipFill>
                          <a:blip r:embed="rId3"/>
                          <a:stretch>
                            <a:fillRect l="-135127" t="-455" r="-102215" b="-2440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121920" marB="121920"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21920" marB="121920" anchor="ctr">
                        <a:blipFill>
                          <a:blip r:embed="rId3"/>
                          <a:stretch>
                            <a:fillRect l="-231464" t="-455" r="-623" b="-2440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2404053554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endParaRPr lang="en-US" sz="1800" b="1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  <a:endParaRPr lang="en-US" sz="1800" b="1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  <a:endParaRPr lang="en-US" sz="1800" b="1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RCA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CSLA</a:t>
                          </a:r>
                          <a:endParaRPr lang="en-US" sz="1800" b="1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7878205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1.512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4.333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297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0.449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0.468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110083107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3.003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5.996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735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466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2.207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2.795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5225834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6.422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7.248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1435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872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9.216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6.311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829296503"/>
                      </a:ext>
                    </a:extLst>
                  </a:tr>
                  <a:tr h="650308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12.40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15.65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2870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1375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35.5880</a:t>
                          </a:r>
                        </a:p>
                      </a:txBody>
                      <a:tcPr marT="121920" marB="12192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21.5188</a:t>
                          </a:r>
                        </a:p>
                      </a:txBody>
                      <a:tcPr marT="121920" marB="121920" anchor="ctr"/>
                    </a:tc>
                    <a:extLst>
                      <a:ext uri="{0D108BD9-81ED-4DB2-BD59-A6C34878D82A}">
                        <a16:rowId xmlns:a16="http://schemas.microsoft.com/office/drawing/2014/main" val="31747476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217AE49-E385-E96C-1DDB-DE08F6B715D9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Power Delay product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77BD7-7348-15BE-B1F5-0EAC6EC8B2FB}"/>
              </a:ext>
            </a:extLst>
          </p:cNvPr>
          <p:cNvSpPr txBox="1"/>
          <p:nvPr/>
        </p:nvSpPr>
        <p:spPr>
          <a:xfrm>
            <a:off x="7543042" y="5092620"/>
            <a:ext cx="441129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18: Variation of Power Delay Product with Bit Width in RCA and CSLA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82A1A2-8AC7-539A-40E6-C7BF27B3D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042" y="1962105"/>
            <a:ext cx="4411296" cy="299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77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6489-3D52-D0D7-C564-A3800607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B147-CC14-3454-180D-95EC033C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7C4A7-C930-FC30-59B2-E0DD808446C7}"/>
              </a:ext>
            </a:extLst>
          </p:cNvPr>
          <p:cNvSpPr txBox="1"/>
          <p:nvPr/>
        </p:nvSpPr>
        <p:spPr>
          <a:xfrm>
            <a:off x="3611880" y="6442364"/>
            <a:ext cx="62941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19: Active Mode Operation of MTCMOS-Based CSLA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78E03-C163-C310-A7FE-F49F043C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30" y="1544505"/>
            <a:ext cx="10897340" cy="48978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8163C7-E80C-4C94-82A6-442E9BD820C8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Analysis of output after integrating Sleep Transistor</a:t>
            </a:r>
          </a:p>
        </p:txBody>
      </p:sp>
    </p:spTree>
    <p:extLst>
      <p:ext uri="{BB962C8B-B14F-4D97-AF65-F5344CB8AC3E}">
        <p14:creationId xmlns:p14="http://schemas.microsoft.com/office/powerpoint/2010/main" val="41996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1671-1539-4F9D-4551-D0EFB2D9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011E-73F5-538E-FC28-CF94A4BF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BE4BE-57ED-5A16-E18E-9DAEF038D2DB}"/>
              </a:ext>
            </a:extLst>
          </p:cNvPr>
          <p:cNvSpPr txBox="1"/>
          <p:nvPr/>
        </p:nvSpPr>
        <p:spPr>
          <a:xfrm>
            <a:off x="2587752" y="6305788"/>
            <a:ext cx="7251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20: Standby Mode Verification with Sleep Signal Disabled (Sleep = 0)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2C6848-0AA5-07FE-82A0-E511B609C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77" y="1529013"/>
            <a:ext cx="10898446" cy="4710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95D479-B1CD-8CB7-84A4-519EBCEB960F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Analysis of output after integrating Sleep Transistor</a:t>
            </a:r>
          </a:p>
        </p:txBody>
      </p:sp>
    </p:spTree>
    <p:extLst>
      <p:ext uri="{BB962C8B-B14F-4D97-AF65-F5344CB8AC3E}">
        <p14:creationId xmlns:p14="http://schemas.microsoft.com/office/powerpoint/2010/main" val="499084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B0E50-BF09-ADF4-97BD-8F5D675E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CB7F-26A9-203E-D6CD-B9ECC316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708467" cy="65249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8AB15-A410-4FCE-DB9F-4F8C96DD7F26}"/>
              </a:ext>
            </a:extLst>
          </p:cNvPr>
          <p:cNvSpPr txBox="1"/>
          <p:nvPr/>
        </p:nvSpPr>
        <p:spPr>
          <a:xfrm>
            <a:off x="2660904" y="5870150"/>
            <a:ext cx="753465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21: Standby Mode Verification with Sleep Signal Enabled (Sleep = 1)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88B98-B427-5091-A9B8-403E96A93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533233"/>
            <a:ext cx="10939272" cy="43369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DC1518-7D1B-261F-865B-6B1A645BA4C0}"/>
              </a:ext>
            </a:extLst>
          </p:cNvPr>
          <p:cNvSpPr txBox="1"/>
          <p:nvPr/>
        </p:nvSpPr>
        <p:spPr>
          <a:xfrm>
            <a:off x="1141413" y="1119049"/>
            <a:ext cx="7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Analysis of output after integrating Sleep Transistor</a:t>
            </a:r>
          </a:p>
        </p:txBody>
      </p:sp>
    </p:spTree>
    <p:extLst>
      <p:ext uri="{BB962C8B-B14F-4D97-AF65-F5344CB8AC3E}">
        <p14:creationId xmlns:p14="http://schemas.microsoft.com/office/powerpoint/2010/main" val="2421954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A6E2E-8378-EFA6-7A09-050FA8C2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516F-FF9F-F17A-9623-8492017F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74398"/>
            <a:ext cx="2433891" cy="54277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D3B7CB2-5F8D-8057-66C7-DCBA2895BF87}"/>
              </a:ext>
            </a:extLst>
          </p:cNvPr>
          <p:cNvSpPr txBox="1"/>
          <p:nvPr/>
        </p:nvSpPr>
        <p:spPr>
          <a:xfrm>
            <a:off x="1141413" y="1191535"/>
            <a:ext cx="394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MTCMOS Performance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EEDFF9-78FD-76F7-CF50-3DC2862F12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892354"/>
                  </p:ext>
                </p:extLst>
              </p:nvPr>
            </p:nvGraphicFramePr>
            <p:xfrm>
              <a:off x="118434" y="2083175"/>
              <a:ext cx="7529790" cy="4579924"/>
            </p:xfrm>
            <a:graphic>
              <a:graphicData uri="http://schemas.openxmlformats.org/drawingml/2006/table">
                <a:tbl>
                  <a:tblPr firstRow="1" firstCol="1" bandRow="1">
                    <a:tableStyleId>{616DA210-FB5B-4158-B5E0-FEB733F419BA}</a:tableStyleId>
                  </a:tblPr>
                  <a:tblGrid>
                    <a:gridCol w="596426">
                      <a:extLst>
                        <a:ext uri="{9D8B030D-6E8A-4147-A177-3AD203B41FA5}">
                          <a16:colId xmlns:a16="http://schemas.microsoft.com/office/drawing/2014/main" val="2634398691"/>
                        </a:ext>
                      </a:extLst>
                    </a:gridCol>
                    <a:gridCol w="684526">
                      <a:extLst>
                        <a:ext uri="{9D8B030D-6E8A-4147-A177-3AD203B41FA5}">
                          <a16:colId xmlns:a16="http://schemas.microsoft.com/office/drawing/2014/main" val="2863295686"/>
                        </a:ext>
                      </a:extLst>
                    </a:gridCol>
                    <a:gridCol w="684526">
                      <a:extLst>
                        <a:ext uri="{9D8B030D-6E8A-4147-A177-3AD203B41FA5}">
                          <a16:colId xmlns:a16="http://schemas.microsoft.com/office/drawing/2014/main" val="1022839348"/>
                        </a:ext>
                      </a:extLst>
                    </a:gridCol>
                    <a:gridCol w="684526">
                      <a:extLst>
                        <a:ext uri="{9D8B030D-6E8A-4147-A177-3AD203B41FA5}">
                          <a16:colId xmlns:a16="http://schemas.microsoft.com/office/drawing/2014/main" val="1256448942"/>
                        </a:ext>
                      </a:extLst>
                    </a:gridCol>
                    <a:gridCol w="722283">
                      <a:extLst>
                        <a:ext uri="{9D8B030D-6E8A-4147-A177-3AD203B41FA5}">
                          <a16:colId xmlns:a16="http://schemas.microsoft.com/office/drawing/2014/main" val="3283021049"/>
                        </a:ext>
                      </a:extLst>
                    </a:gridCol>
                    <a:gridCol w="725081">
                      <a:extLst>
                        <a:ext uri="{9D8B030D-6E8A-4147-A177-3AD203B41FA5}">
                          <a16:colId xmlns:a16="http://schemas.microsoft.com/office/drawing/2014/main" val="1779364984"/>
                        </a:ext>
                      </a:extLst>
                    </a:gridCol>
                    <a:gridCol w="725081">
                      <a:extLst>
                        <a:ext uri="{9D8B030D-6E8A-4147-A177-3AD203B41FA5}">
                          <a16:colId xmlns:a16="http://schemas.microsoft.com/office/drawing/2014/main" val="175934592"/>
                        </a:ext>
                      </a:extLst>
                    </a:gridCol>
                    <a:gridCol w="692218">
                      <a:extLst>
                        <a:ext uri="{9D8B030D-6E8A-4147-A177-3AD203B41FA5}">
                          <a16:colId xmlns:a16="http://schemas.microsoft.com/office/drawing/2014/main" val="2153701861"/>
                        </a:ext>
                      </a:extLst>
                    </a:gridCol>
                    <a:gridCol w="662851">
                      <a:extLst>
                        <a:ext uri="{9D8B030D-6E8A-4147-A177-3AD203B41FA5}">
                          <a16:colId xmlns:a16="http://schemas.microsoft.com/office/drawing/2014/main" val="707817640"/>
                        </a:ext>
                      </a:extLst>
                    </a:gridCol>
                    <a:gridCol w="662851">
                      <a:extLst>
                        <a:ext uri="{9D8B030D-6E8A-4147-A177-3AD203B41FA5}">
                          <a16:colId xmlns:a16="http://schemas.microsoft.com/office/drawing/2014/main" val="1588057912"/>
                        </a:ext>
                      </a:extLst>
                    </a:gridCol>
                    <a:gridCol w="689421">
                      <a:extLst>
                        <a:ext uri="{9D8B030D-6E8A-4147-A177-3AD203B41FA5}">
                          <a16:colId xmlns:a16="http://schemas.microsoft.com/office/drawing/2014/main" val="1156357994"/>
                        </a:ext>
                      </a:extLst>
                    </a:gridCol>
                  </a:tblGrid>
                  <a:tr h="355340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Architecture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 dirty="0">
                              <a:effectLst/>
                            </a:rPr>
                            <a:t>Architecture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Power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1"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1100" b="1">
                                  <a:effectLst/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oMath>
                          </a14:m>
                          <a:r>
                            <a:rPr lang="en-US" sz="1200" b="1">
                              <a:effectLst/>
                            </a:rPr>
                            <a:t>)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</a:rPr>
                            <a:t>Delay 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𝒑𝑺</m:t>
                              </m:r>
                            </m:oMath>
                          </a14:m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</a:rPr>
                            <a:t>)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Leakage Power 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sz="1100" b="1">
                                  <a:effectLst/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oMath>
                          </a14:m>
                          <a:r>
                            <a:rPr lang="en-US" sz="1200" b="1">
                              <a:effectLst/>
                            </a:rPr>
                            <a:t>)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PDP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1">
                                  <a:effectLst/>
                                  <a:latin typeface="Cambria Math" panose="02040503050406030204" pitchFamily="18" charset="0"/>
                                </a:rPr>
                                <m:t>𝒇𝑱</m:t>
                              </m:r>
                            </m:oMath>
                          </a14:m>
                          <a:r>
                            <a:rPr lang="en-US" sz="1200" b="1">
                              <a:effectLst/>
                            </a:rPr>
                            <a:t>)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PDP Improvement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5993282"/>
                      </a:ext>
                    </a:extLst>
                  </a:tr>
                  <a:tr h="90045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226560"/>
                      </a:ext>
                    </a:extLst>
                  </a:tr>
                  <a:tr h="791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16-bit RCA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16-bit RCA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6.42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5.55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1435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1455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8.705×</m:t>
                                </m:r>
                                <m:sSup>
                                  <m:sSupPr>
                                    <m:ctrlP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80.01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9.21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8.07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12.34% Better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89994361"/>
                      </a:ext>
                    </a:extLst>
                  </a:tr>
                  <a:tr h="791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8.25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6.18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872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890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2.071×</m:t>
                                </m:r>
                                <m:sSup>
                                  <m:sSupPr>
                                    <m:ctrlP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82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7.19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5.55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23.54% Better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2780516"/>
                      </a:ext>
                    </a:extLst>
                  </a:tr>
                  <a:tr h="786461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RCA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RCA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12.40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10.53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2870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2910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1.866×</m:t>
                                </m:r>
                                <m:sSup>
                                  <m:sSupPr>
                                    <m:ctrlP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160.5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35.58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30.65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13.86% Better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96273893"/>
                      </a:ext>
                    </a:extLst>
                  </a:tr>
                  <a:tr h="791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15.65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11.65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1375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1405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4.001×</m:t>
                                </m:r>
                                <m:sSup>
                                  <m:sSupPr>
                                    <m:ctrlP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155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21.52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16.36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23.93% Better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86392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EEDFF9-78FD-76F7-CF50-3DC2862F12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892354"/>
                  </p:ext>
                </p:extLst>
              </p:nvPr>
            </p:nvGraphicFramePr>
            <p:xfrm>
              <a:off x="118434" y="2083175"/>
              <a:ext cx="7529790" cy="4579924"/>
            </p:xfrm>
            <a:graphic>
              <a:graphicData uri="http://schemas.openxmlformats.org/drawingml/2006/table">
                <a:tbl>
                  <a:tblPr firstRow="1" firstCol="1" bandRow="1">
                    <a:tableStyleId>{616DA210-FB5B-4158-B5E0-FEB733F419BA}</a:tableStyleId>
                  </a:tblPr>
                  <a:tblGrid>
                    <a:gridCol w="596426">
                      <a:extLst>
                        <a:ext uri="{9D8B030D-6E8A-4147-A177-3AD203B41FA5}">
                          <a16:colId xmlns:a16="http://schemas.microsoft.com/office/drawing/2014/main" val="2634398691"/>
                        </a:ext>
                      </a:extLst>
                    </a:gridCol>
                    <a:gridCol w="684526">
                      <a:extLst>
                        <a:ext uri="{9D8B030D-6E8A-4147-A177-3AD203B41FA5}">
                          <a16:colId xmlns:a16="http://schemas.microsoft.com/office/drawing/2014/main" val="2863295686"/>
                        </a:ext>
                      </a:extLst>
                    </a:gridCol>
                    <a:gridCol w="684526">
                      <a:extLst>
                        <a:ext uri="{9D8B030D-6E8A-4147-A177-3AD203B41FA5}">
                          <a16:colId xmlns:a16="http://schemas.microsoft.com/office/drawing/2014/main" val="1022839348"/>
                        </a:ext>
                      </a:extLst>
                    </a:gridCol>
                    <a:gridCol w="684526">
                      <a:extLst>
                        <a:ext uri="{9D8B030D-6E8A-4147-A177-3AD203B41FA5}">
                          <a16:colId xmlns:a16="http://schemas.microsoft.com/office/drawing/2014/main" val="1256448942"/>
                        </a:ext>
                      </a:extLst>
                    </a:gridCol>
                    <a:gridCol w="722283">
                      <a:extLst>
                        <a:ext uri="{9D8B030D-6E8A-4147-A177-3AD203B41FA5}">
                          <a16:colId xmlns:a16="http://schemas.microsoft.com/office/drawing/2014/main" val="3283021049"/>
                        </a:ext>
                      </a:extLst>
                    </a:gridCol>
                    <a:gridCol w="725081">
                      <a:extLst>
                        <a:ext uri="{9D8B030D-6E8A-4147-A177-3AD203B41FA5}">
                          <a16:colId xmlns:a16="http://schemas.microsoft.com/office/drawing/2014/main" val="1779364984"/>
                        </a:ext>
                      </a:extLst>
                    </a:gridCol>
                    <a:gridCol w="725081">
                      <a:extLst>
                        <a:ext uri="{9D8B030D-6E8A-4147-A177-3AD203B41FA5}">
                          <a16:colId xmlns:a16="http://schemas.microsoft.com/office/drawing/2014/main" val="175934592"/>
                        </a:ext>
                      </a:extLst>
                    </a:gridCol>
                    <a:gridCol w="692218">
                      <a:extLst>
                        <a:ext uri="{9D8B030D-6E8A-4147-A177-3AD203B41FA5}">
                          <a16:colId xmlns:a16="http://schemas.microsoft.com/office/drawing/2014/main" val="2153701861"/>
                        </a:ext>
                      </a:extLst>
                    </a:gridCol>
                    <a:gridCol w="662851">
                      <a:extLst>
                        <a:ext uri="{9D8B030D-6E8A-4147-A177-3AD203B41FA5}">
                          <a16:colId xmlns:a16="http://schemas.microsoft.com/office/drawing/2014/main" val="707817640"/>
                        </a:ext>
                      </a:extLst>
                    </a:gridCol>
                    <a:gridCol w="662851">
                      <a:extLst>
                        <a:ext uri="{9D8B030D-6E8A-4147-A177-3AD203B41FA5}">
                          <a16:colId xmlns:a16="http://schemas.microsoft.com/office/drawing/2014/main" val="1588057912"/>
                        </a:ext>
                      </a:extLst>
                    </a:gridCol>
                    <a:gridCol w="689421">
                      <a:extLst>
                        <a:ext uri="{9D8B030D-6E8A-4147-A177-3AD203B41FA5}">
                          <a16:colId xmlns:a16="http://schemas.microsoft.com/office/drawing/2014/main" val="1156357994"/>
                        </a:ext>
                      </a:extLst>
                    </a:gridCol>
                  </a:tblGrid>
                  <a:tr h="519811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Architecture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 dirty="0">
                              <a:effectLst/>
                            </a:rPr>
                            <a:t>Architecture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3778" t="-1176" r="-357333" b="-788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83193" t="-1176" r="-237815" b="-788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90517" t="-1176" r="-143966" b="-788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15596" t="-1176" r="-53211" b="-788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PDP Improvement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5993282"/>
                      </a:ext>
                    </a:extLst>
                  </a:tr>
                  <a:tr h="90045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>
                              <a:effectLst/>
                            </a:rPr>
                            <a:t>MT-CMOS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226560"/>
                      </a:ext>
                    </a:extLst>
                  </a:tr>
                  <a:tr h="791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16-bit RCA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16-bit RCA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6.42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5.55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1435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1455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66387" t="-180769" r="-375630" b="-3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80.01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9.21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8.07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12.34% Better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89994361"/>
                      </a:ext>
                    </a:extLst>
                  </a:tr>
                  <a:tr h="791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8.25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6.18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872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890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66387" t="-280769" r="-375630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82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7.19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5.55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23.54% Better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2780516"/>
                      </a:ext>
                    </a:extLst>
                  </a:tr>
                  <a:tr h="786461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RCA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RCA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12.40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10.53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2870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2910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66387" t="-383721" r="-375630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160.5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35.58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30.65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13.86% Better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96273893"/>
                      </a:ext>
                    </a:extLst>
                  </a:tr>
                  <a:tr h="791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32-bit CSLA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15.65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11.65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1375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1405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66387" t="-480000" r="-3756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155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21.52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16.36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23.93% Better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863924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097BC85-B03F-5D8B-1AE2-586B4BEA1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166" y="2155226"/>
            <a:ext cx="4241400" cy="2736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6E75DC-8345-D933-B87D-E6505E5507BC}"/>
              </a:ext>
            </a:extLst>
          </p:cNvPr>
          <p:cNvSpPr txBox="1"/>
          <p:nvPr/>
        </p:nvSpPr>
        <p:spPr>
          <a:xfrm>
            <a:off x="7900416" y="5025044"/>
            <a:ext cx="417315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22: Leakage Power Comparison of CMOS and MTCMOS Architectures</a:t>
            </a:r>
          </a:p>
        </p:txBody>
      </p:sp>
    </p:spTree>
    <p:extLst>
      <p:ext uri="{BB962C8B-B14F-4D97-AF65-F5344CB8AC3E}">
        <p14:creationId xmlns:p14="http://schemas.microsoft.com/office/powerpoint/2010/main" val="984166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470F-F612-8ED7-ABD6-B8377FCC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3412299" cy="62506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CD9E-14A0-6AAA-2CCD-7C5D0E08FF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1413" y="1623133"/>
            <a:ext cx="9776523" cy="408272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of the proposed architecture to advanced technology nodes such as 45 nm and FinFETs technologies.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adaptive or dynamic power gating techniques for further leakage reduction.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with advanced adder architectures such as Parallel Prefix Adders and Carry Look-Ahead Adders.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layout implementation and post-layout parasitic analysis.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process variation, IR drop, and reliability-aware low-power design techniques.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the proposed architecture in AI accelerators, DSP units, and energy-efficient embedded processors. </a:t>
            </a:r>
          </a:p>
        </p:txBody>
      </p:sp>
    </p:spTree>
    <p:extLst>
      <p:ext uri="{BB962C8B-B14F-4D97-AF65-F5344CB8AC3E}">
        <p14:creationId xmlns:p14="http://schemas.microsoft.com/office/powerpoint/2010/main" val="3758661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5B678-B125-1462-DB57-C0C7EBA8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5CFB-D54D-6C9B-E186-331E7741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3412299" cy="62506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BFDF-12A6-4023-6E79-B5BBD1349D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1413" y="1713949"/>
            <a:ext cx="9163730" cy="277096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RCA provides lower complexity and reduced power consumption.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CSLA achieves superior delay performance due to parallel carry computation.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MTCMOS significantly reduces standby leakage power.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transistor sizing strongly affects leakage-delay trade-off.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demonstrates the feasibility of low-power arithmetic design using MTCMOS.</a:t>
            </a:r>
          </a:p>
        </p:txBody>
      </p:sp>
    </p:spTree>
    <p:extLst>
      <p:ext uri="{BB962C8B-B14F-4D97-AF65-F5344CB8AC3E}">
        <p14:creationId xmlns:p14="http://schemas.microsoft.com/office/powerpoint/2010/main" val="1235110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8F11-9396-B603-C127-28B7A324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5D3F-C99E-D382-0BFB-D6D50B02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3412299" cy="62506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1C1C5-E47B-D630-1A21-9587CE7781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1413" y="1243584"/>
            <a:ext cx="10252301" cy="45911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 Balasubramanian, D. Maskell, and N. E. Mastorakis, “Performance Comparison of Carry-Lookahead and Carry-Select Adders Based on Accurate and Approximate Additions,”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12, pp. 1–24, 2018.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N.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Hanchate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N. Ranganathan, “LECTOR: A Technique for Leakage Reduction in CMOS Circuits,”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Very Large Scale Integration (VLSI)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2, pp. 196–205, Feb.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Mutoh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“1-V Power Supply High-Speed Digital Circuit Technology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Multithreshold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-Voltage CMOS,”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Solid-State Circuits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30, no. 8, pp. 847–854, Aug. 2022.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B. Ramkumar and H. M. Kittur, “Low-Power and Area-Efficient Carry Select Adder,”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Very Large Scale Integration (VLSI)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2, pp. 371–375, Feb. 2024.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Roy, S. Mukhopadhyay, and H. Mahmoodi-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Meimand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“Leakage Current Mechanisms and Leakage Reduction Techniques in Deep-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Submicrometer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CMOS Circuits,”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91, no. 2, pp. 305–327, Feb. 2025.</a:t>
            </a:r>
          </a:p>
        </p:txBody>
      </p:sp>
    </p:spTree>
    <p:extLst>
      <p:ext uri="{BB962C8B-B14F-4D97-AF65-F5344CB8AC3E}">
        <p14:creationId xmlns:p14="http://schemas.microsoft.com/office/powerpoint/2010/main" val="1391877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0702-003E-AEBC-840D-ACFA211D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925D30-C76B-6DBE-B613-6CB7BDDAD14C}"/>
              </a:ext>
            </a:extLst>
          </p:cNvPr>
          <p:cNvSpPr txBox="1"/>
          <p:nvPr/>
        </p:nvSpPr>
        <p:spPr>
          <a:xfrm>
            <a:off x="1533907" y="1613118"/>
            <a:ext cx="912418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</a:p>
          <a:p>
            <a:pPr algn="ctr"/>
            <a:r>
              <a:rPr lang="en-US" sz="1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15476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1947</TotalTime>
  <Words>1901</Words>
  <Application>Microsoft Office PowerPoint</Application>
  <PresentationFormat>Widescreen</PresentationFormat>
  <Paragraphs>377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-apple-system-body</vt:lpstr>
      <vt:lpstr>Aptos</vt:lpstr>
      <vt:lpstr>Arial</vt:lpstr>
      <vt:lpstr>Calibri</vt:lpstr>
      <vt:lpstr>Cambria Math</vt:lpstr>
      <vt:lpstr>Times New Roman</vt:lpstr>
      <vt:lpstr>Tw Cen MT</vt:lpstr>
      <vt:lpstr>Twentieth Century</vt:lpstr>
      <vt:lpstr>Wingdings</vt:lpstr>
      <vt:lpstr>Circuit</vt:lpstr>
      <vt:lpstr>PowerPoint Presentation</vt:lpstr>
      <vt:lpstr>Presentation Outline</vt:lpstr>
      <vt:lpstr>introduction</vt:lpstr>
      <vt:lpstr>Problem Statement</vt:lpstr>
      <vt:lpstr>Literature Review</vt:lpstr>
      <vt:lpstr>objectives</vt:lpstr>
      <vt:lpstr>CMOS fundamentals</vt:lpstr>
      <vt:lpstr>ripple carry adder</vt:lpstr>
      <vt:lpstr>carry select adder</vt:lpstr>
      <vt:lpstr>Variable Block carry select adder</vt:lpstr>
      <vt:lpstr>MTCMOS</vt:lpstr>
      <vt:lpstr>Sleep transistor optimization</vt:lpstr>
      <vt:lpstr>Proposed methodology</vt:lpstr>
      <vt:lpstr>Full adder design</vt:lpstr>
      <vt:lpstr>TG MUX Design</vt:lpstr>
      <vt:lpstr>Full adder design</vt:lpstr>
      <vt:lpstr>TG MUX Design</vt:lpstr>
      <vt:lpstr>32- bit Carry select adder  Design</vt:lpstr>
      <vt:lpstr>Integration of Sleep Transistor Design</vt:lpstr>
      <vt:lpstr>INTEGRATION OF SLEEP TRANSISTOR DESIGN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Future works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Raj</dc:creator>
  <cp:lastModifiedBy>Ravi Raj</cp:lastModifiedBy>
  <cp:revision>9</cp:revision>
  <dcterms:created xsi:type="dcterms:W3CDTF">2026-05-08T09:11:31Z</dcterms:created>
  <dcterms:modified xsi:type="dcterms:W3CDTF">2026-08-27T19:09:26Z</dcterms:modified>
</cp:coreProperties>
</file>